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Bebas Neue"/>
      <p:regular r:id="rId24"/>
    </p:embeddedFont>
    <p:embeddedFont>
      <p:font typeface="Manrope"/>
      <p:regular r:id="rId25"/>
      <p:bold r:id="rId26"/>
    </p:embeddedFont>
    <p:embeddedFont>
      <p:font typeface="Sor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Dmn3v0yAtrzgqZku7Fnr+v2KE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BebasNeue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28" Type="http://schemas.openxmlformats.org/officeDocument/2006/relationships/font" Target="fonts/Sora-bold.fntdata"/><Relationship Id="rId27" Type="http://schemas.openxmlformats.org/officeDocument/2006/relationships/font" Target="fonts/Sor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ecf5ed28f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ecf5ed28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Esses dados serão trabalhados para correlacionar as informações de precipitação de chuva, temperaturas máxima e mínima, em qual ocasião surge o aumento de casos e projetar possíveis casos para os próximos anos.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 etapas previstas para o desenvolvimento do modelo incluem: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22250" lvl="1" marL="685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Coleta e integração das fontes;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22250" lvl="1" marL="685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Análise exploratória;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22250" lvl="1" marL="685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Identificação dos picos epidêmicos anteriores.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 base do INMET sofreu tratamento nas colunas de temperatura, precipitação e umidade do ar.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8d9cbc3fc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a8d9cbc3f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"/>
              <a:buChar char="●"/>
            </a:pPr>
            <a:r>
              <a:rPr b="1"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Fase 1 - Observação: (Primeiras 4 semanas)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Monitora os números de casos semanais;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Compara com Limiares de alerta (Limiar amarela e Limiar vermelha);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 casos &gt; limiar, envia um alerta.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"/>
              <a:buChar char="●"/>
            </a:pPr>
            <a:r>
              <a:rPr b="1"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Fase 2 - Confirmação: (Próximas 6 semanas)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746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Confirma se o número de casos é real;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746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Monitora o número de casos sem fazer previsões.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nrope"/>
              <a:buChar char="●"/>
            </a:pPr>
            <a:r>
              <a:rPr b="1"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Fase 3 - Machine Learning (Semana 11 em diante)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746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Ativa o modelo;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746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Faz previsões semanais;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746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○"/>
            </a:pPr>
            <a:r>
              <a:rPr lang="en-U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Retreina o modelo a cada semana com dados novos.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e062eb8e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9e062eb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e062eb8e6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9e062eb8e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8d9cbc3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a8d9cbc3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e062eb8e6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e062eb8e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e062eb8e6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9e062eb8e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ecf5ed28f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9ecf5ed2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daf08bf71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adaf08bf7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daf08bf71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adaf08bf7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c9aa3ea94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8c9aa3ea9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daf08bf71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adaf08bf7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/>
          <p:nvPr/>
        </p:nvSpPr>
        <p:spPr>
          <a:xfrm>
            <a:off x="8170489" y="4608502"/>
            <a:ext cx="837423" cy="548624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6"/>
          <p:cNvSpPr/>
          <p:nvPr/>
        </p:nvSpPr>
        <p:spPr>
          <a:xfrm>
            <a:off x="8739775" y="187001"/>
            <a:ext cx="425537" cy="278784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/>
          <p:nvPr/>
        </p:nvSpPr>
        <p:spPr>
          <a:xfrm flipH="1">
            <a:off x="-35154" y="855375"/>
            <a:ext cx="724279" cy="474500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/>
          <p:nvPr/>
        </p:nvSpPr>
        <p:spPr>
          <a:xfrm flipH="1">
            <a:off x="1932476" y="4608502"/>
            <a:ext cx="837423" cy="548624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/>
          <p:nvPr/>
        </p:nvSpPr>
        <p:spPr>
          <a:xfrm flipH="1">
            <a:off x="8483230" y="2812776"/>
            <a:ext cx="571495" cy="374406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173801" y="3036050"/>
            <a:ext cx="515317" cy="337602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6"/>
          <p:cNvSpPr/>
          <p:nvPr/>
        </p:nvSpPr>
        <p:spPr>
          <a:xfrm>
            <a:off x="4489712" y="79750"/>
            <a:ext cx="694877" cy="455238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/>
          <p:nvPr/>
        </p:nvSpPr>
        <p:spPr>
          <a:xfrm flipH="1">
            <a:off x="28060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6"/>
          <p:cNvSpPr/>
          <p:nvPr/>
        </p:nvSpPr>
        <p:spPr>
          <a:xfrm flipH="1">
            <a:off x="7224575" y="-2290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/>
          <p:nvPr/>
        </p:nvSpPr>
        <p:spPr>
          <a:xfrm flipH="1">
            <a:off x="863417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 flipH="1">
            <a:off x="-4135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/>
          <p:nvPr/>
        </p:nvSpPr>
        <p:spPr>
          <a:xfrm flipH="1">
            <a:off x="884792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/>
          <p:nvPr/>
        </p:nvSpPr>
        <p:spPr>
          <a:xfrm flipH="1">
            <a:off x="-134932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6"/>
          <p:cNvSpPr/>
          <p:nvPr/>
        </p:nvSpPr>
        <p:spPr>
          <a:xfrm flipH="1">
            <a:off x="5473325" y="4709600"/>
            <a:ext cx="1945800" cy="1945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 txBox="1"/>
          <p:nvPr>
            <p:ph type="ctrTitle"/>
          </p:nvPr>
        </p:nvSpPr>
        <p:spPr>
          <a:xfrm>
            <a:off x="2033028" y="1232588"/>
            <a:ext cx="5077800" cy="22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2036172" y="3501413"/>
            <a:ext cx="5074800" cy="40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gradFill>
          <a:gsLst>
            <a:gs pos="0">
              <a:schemeClr val="dk2"/>
            </a:gs>
            <a:gs pos="58000">
              <a:srgbClr val="553F9D"/>
            </a:gs>
            <a:gs pos="92000">
              <a:srgbClr val="A05A80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2" type="title"/>
          </p:nvPr>
        </p:nvSpPr>
        <p:spPr>
          <a:xfrm>
            <a:off x="1415525" y="1404683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17"/>
          <p:cNvSpPr txBox="1"/>
          <p:nvPr>
            <p:ph idx="3" type="title"/>
          </p:nvPr>
        </p:nvSpPr>
        <p:spPr>
          <a:xfrm>
            <a:off x="1415525" y="3081069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17"/>
          <p:cNvSpPr txBox="1"/>
          <p:nvPr>
            <p:ph idx="4" type="title"/>
          </p:nvPr>
        </p:nvSpPr>
        <p:spPr>
          <a:xfrm>
            <a:off x="4114800" y="1404683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17"/>
          <p:cNvSpPr txBox="1"/>
          <p:nvPr>
            <p:ph idx="5" type="title"/>
          </p:nvPr>
        </p:nvSpPr>
        <p:spPr>
          <a:xfrm>
            <a:off x="4114800" y="3081069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17"/>
          <p:cNvSpPr txBox="1"/>
          <p:nvPr>
            <p:ph idx="6" type="title"/>
          </p:nvPr>
        </p:nvSpPr>
        <p:spPr>
          <a:xfrm>
            <a:off x="6814075" y="1404683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17"/>
          <p:cNvSpPr txBox="1"/>
          <p:nvPr>
            <p:ph idx="7" type="title"/>
          </p:nvPr>
        </p:nvSpPr>
        <p:spPr>
          <a:xfrm>
            <a:off x="6814075" y="3081069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17"/>
          <p:cNvSpPr txBox="1"/>
          <p:nvPr>
            <p:ph idx="1" type="subTitle"/>
          </p:nvPr>
        </p:nvSpPr>
        <p:spPr>
          <a:xfrm>
            <a:off x="719975" y="2085150"/>
            <a:ext cx="2305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8" type="subTitle"/>
          </p:nvPr>
        </p:nvSpPr>
        <p:spPr>
          <a:xfrm>
            <a:off x="3419250" y="2085150"/>
            <a:ext cx="2305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9" type="subTitle"/>
          </p:nvPr>
        </p:nvSpPr>
        <p:spPr>
          <a:xfrm>
            <a:off x="6118525" y="2085150"/>
            <a:ext cx="23055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3" type="subTitle"/>
          </p:nvPr>
        </p:nvSpPr>
        <p:spPr>
          <a:xfrm>
            <a:off x="719975" y="3767636"/>
            <a:ext cx="2305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4" type="subTitle"/>
          </p:nvPr>
        </p:nvSpPr>
        <p:spPr>
          <a:xfrm>
            <a:off x="3419250" y="3767636"/>
            <a:ext cx="2305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5" type="subTitle"/>
          </p:nvPr>
        </p:nvSpPr>
        <p:spPr>
          <a:xfrm>
            <a:off x="6118525" y="3767636"/>
            <a:ext cx="2305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" name="Google Shape;39;p17"/>
          <p:cNvSpPr/>
          <p:nvPr/>
        </p:nvSpPr>
        <p:spPr>
          <a:xfrm flipH="1" rot="10800000">
            <a:off x="-511125" y="3190350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/>
          <p:nvPr/>
        </p:nvSpPr>
        <p:spPr>
          <a:xfrm flipH="1" rot="10800000">
            <a:off x="7940575" y="-1614175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 flipH="1" rot="10800000">
            <a:off x="6713250" y="4568000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/>
          <p:nvPr/>
        </p:nvSpPr>
        <p:spPr>
          <a:xfrm flipH="1" rot="10800000">
            <a:off x="1814525" y="-1621625"/>
            <a:ext cx="1945800" cy="1945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/>
          <p:nvPr/>
        </p:nvSpPr>
        <p:spPr>
          <a:xfrm flipH="1" rot="10800000">
            <a:off x="1314275" y="4568000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 flipH="1" rot="10800000">
            <a:off x="-185775" y="74421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7"/>
          <p:cNvSpPr/>
          <p:nvPr/>
        </p:nvSpPr>
        <p:spPr>
          <a:xfrm flipH="1" rot="10800000">
            <a:off x="8580200" y="2424274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7"/>
          <p:cNvSpPr/>
          <p:nvPr/>
        </p:nvSpPr>
        <p:spPr>
          <a:xfrm flipH="1">
            <a:off x="8670163" y="1264364"/>
            <a:ext cx="379072" cy="248343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"/>
          <p:cNvSpPr/>
          <p:nvPr/>
        </p:nvSpPr>
        <p:spPr>
          <a:xfrm flipH="1">
            <a:off x="8372986" y="38690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/>
          <p:nvPr/>
        </p:nvSpPr>
        <p:spPr>
          <a:xfrm flipH="1">
            <a:off x="1097800" y="63726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7"/>
          <p:cNvSpPr/>
          <p:nvPr/>
        </p:nvSpPr>
        <p:spPr>
          <a:xfrm flipH="1">
            <a:off x="225713" y="4686926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1879200" y="2401186"/>
            <a:ext cx="53856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p18"/>
          <p:cNvSpPr txBox="1"/>
          <p:nvPr>
            <p:ph idx="2" type="title"/>
          </p:nvPr>
        </p:nvSpPr>
        <p:spPr>
          <a:xfrm>
            <a:off x="4013250" y="126076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8"/>
          <p:cNvSpPr/>
          <p:nvPr/>
        </p:nvSpPr>
        <p:spPr>
          <a:xfrm>
            <a:off x="4622400" y="4772175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8"/>
          <p:cNvSpPr/>
          <p:nvPr/>
        </p:nvSpPr>
        <p:spPr>
          <a:xfrm>
            <a:off x="3210775" y="-185567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8"/>
          <p:cNvSpPr/>
          <p:nvPr/>
        </p:nvSpPr>
        <p:spPr>
          <a:xfrm>
            <a:off x="6983025" y="-4467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/>
          <p:nvPr/>
        </p:nvSpPr>
        <p:spPr>
          <a:xfrm>
            <a:off x="1879200" y="48086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8846900" y="2527026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-679850" y="439647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8"/>
          <p:cNvSpPr/>
          <p:nvPr/>
        </p:nvSpPr>
        <p:spPr>
          <a:xfrm>
            <a:off x="8665675" y="1178013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/>
          <p:nvPr/>
        </p:nvSpPr>
        <p:spPr>
          <a:xfrm flipH="1">
            <a:off x="1601811" y="-58900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/>
          <p:nvPr/>
        </p:nvSpPr>
        <p:spPr>
          <a:xfrm flipH="1">
            <a:off x="112563" y="974588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8"/>
          <p:cNvSpPr/>
          <p:nvPr/>
        </p:nvSpPr>
        <p:spPr>
          <a:xfrm flipH="1">
            <a:off x="8514175" y="4808676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/>
          <p:nvPr/>
        </p:nvSpPr>
        <p:spPr>
          <a:xfrm flipH="1">
            <a:off x="-7151" y="31490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" type="subTitle"/>
          </p:nvPr>
        </p:nvSpPr>
        <p:spPr>
          <a:xfrm>
            <a:off x="4916166" y="2512542"/>
            <a:ext cx="2455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2" type="subTitle"/>
          </p:nvPr>
        </p:nvSpPr>
        <p:spPr>
          <a:xfrm>
            <a:off x="1772634" y="2512542"/>
            <a:ext cx="2455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3" type="subTitle"/>
          </p:nvPr>
        </p:nvSpPr>
        <p:spPr>
          <a:xfrm>
            <a:off x="1772634" y="2288699"/>
            <a:ext cx="245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4" type="subTitle"/>
          </p:nvPr>
        </p:nvSpPr>
        <p:spPr>
          <a:xfrm>
            <a:off x="4916166" y="2288699"/>
            <a:ext cx="245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9"/>
          <p:cNvSpPr/>
          <p:nvPr/>
        </p:nvSpPr>
        <p:spPr>
          <a:xfrm>
            <a:off x="794057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9"/>
          <p:cNvSpPr/>
          <p:nvPr/>
        </p:nvSpPr>
        <p:spPr>
          <a:xfrm>
            <a:off x="671325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1814525" y="4709600"/>
            <a:ext cx="1945800" cy="1945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314275" y="-2290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-18577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858020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-51112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/>
          <p:nvPr/>
        </p:nvSpPr>
        <p:spPr>
          <a:xfrm>
            <a:off x="145250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/>
          <p:nvPr/>
        </p:nvSpPr>
        <p:spPr>
          <a:xfrm flipH="1">
            <a:off x="8352999" y="5667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/>
          <p:nvPr/>
        </p:nvSpPr>
        <p:spPr>
          <a:xfrm flipH="1">
            <a:off x="61100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9"/>
          <p:cNvSpPr/>
          <p:nvPr/>
        </p:nvSpPr>
        <p:spPr>
          <a:xfrm flipH="1">
            <a:off x="8486950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9"/>
          <p:cNvSpPr/>
          <p:nvPr/>
        </p:nvSpPr>
        <p:spPr>
          <a:xfrm flipH="1">
            <a:off x="145249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1689133" y="1382675"/>
            <a:ext cx="277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2" type="subTitle"/>
          </p:nvPr>
        </p:nvSpPr>
        <p:spPr>
          <a:xfrm>
            <a:off x="1689134" y="1596972"/>
            <a:ext cx="27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3" type="subTitle"/>
          </p:nvPr>
        </p:nvSpPr>
        <p:spPr>
          <a:xfrm>
            <a:off x="5517698" y="1596972"/>
            <a:ext cx="27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4" type="subTitle"/>
          </p:nvPr>
        </p:nvSpPr>
        <p:spPr>
          <a:xfrm>
            <a:off x="1689134" y="3192900"/>
            <a:ext cx="27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5" type="subTitle"/>
          </p:nvPr>
        </p:nvSpPr>
        <p:spPr>
          <a:xfrm>
            <a:off x="5517698" y="3192900"/>
            <a:ext cx="27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6" type="subTitle"/>
          </p:nvPr>
        </p:nvSpPr>
        <p:spPr>
          <a:xfrm>
            <a:off x="1689133" y="2978603"/>
            <a:ext cx="277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7" type="subTitle"/>
          </p:nvPr>
        </p:nvSpPr>
        <p:spPr>
          <a:xfrm>
            <a:off x="5517696" y="1382675"/>
            <a:ext cx="277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8" type="subTitle"/>
          </p:nvPr>
        </p:nvSpPr>
        <p:spPr>
          <a:xfrm>
            <a:off x="5517696" y="2978603"/>
            <a:ext cx="277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20"/>
          <p:cNvSpPr/>
          <p:nvPr/>
        </p:nvSpPr>
        <p:spPr>
          <a:xfrm flipH="1">
            <a:off x="4130725" y="-4083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-7150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/>
          <p:nvPr/>
        </p:nvSpPr>
        <p:spPr>
          <a:xfrm flipH="1">
            <a:off x="8429199" y="5667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-43492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865640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0"/>
          <p:cNvSpPr/>
          <p:nvPr/>
        </p:nvSpPr>
        <p:spPr>
          <a:xfrm flipH="1">
            <a:off x="137300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/>
          <p:nvPr/>
        </p:nvSpPr>
        <p:spPr>
          <a:xfrm flipH="1">
            <a:off x="8563150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-10957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1677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 flipH="1">
            <a:off x="221449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3528550" y="48031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gradFill>
          <a:gsLst>
            <a:gs pos="0">
              <a:schemeClr val="dk2"/>
            </a:gs>
            <a:gs pos="58000">
              <a:srgbClr val="553F9D"/>
            </a:gs>
            <a:gs pos="92000">
              <a:srgbClr val="A05A80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2467289" y="669825"/>
            <a:ext cx="4209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2465850" y="1628350"/>
            <a:ext cx="4212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" name="Google Shape;106;p21"/>
          <p:cNvSpPr txBox="1"/>
          <p:nvPr/>
        </p:nvSpPr>
        <p:spPr>
          <a:xfrm>
            <a:off x="2471250" y="3532304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including icons by </a:t>
            </a:r>
            <a:r>
              <a:rPr b="1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and infographics &amp; images by </a:t>
            </a:r>
            <a:r>
              <a:rPr b="1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highlight>
                <a:srgbClr val="DFDEFC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" name="Google Shape;107;p21"/>
          <p:cNvSpPr/>
          <p:nvPr/>
        </p:nvSpPr>
        <p:spPr>
          <a:xfrm flipH="1">
            <a:off x="-150172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204413" y="4905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157475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 flipH="1">
            <a:off x="869552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/>
          <p:nvPr/>
        </p:nvSpPr>
        <p:spPr>
          <a:xfrm flipH="1">
            <a:off x="848177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/>
          <p:nvPr/>
        </p:nvSpPr>
        <p:spPr>
          <a:xfrm flipH="1">
            <a:off x="8488361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8583325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8259763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331925" y="-4083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/>
          <p:nvPr/>
        </p:nvSpPr>
        <p:spPr>
          <a:xfrm flipH="1">
            <a:off x="3389100" y="48031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/>
          <p:nvPr/>
        </p:nvSpPr>
        <p:spPr>
          <a:xfrm flipH="1">
            <a:off x="-34615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>
            <a:off x="-127312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/>
          <p:nvPr/>
        </p:nvSpPr>
        <p:spPr>
          <a:xfrm flipH="1">
            <a:off x="35680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/>
          <p:nvPr/>
        </p:nvSpPr>
        <p:spPr>
          <a:xfrm flipH="1">
            <a:off x="5549525" y="4709600"/>
            <a:ext cx="1945800" cy="1945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 flipH="1">
            <a:off x="7300775" y="-2290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/>
          <p:nvPr/>
        </p:nvSpPr>
        <p:spPr>
          <a:xfrm flipH="1">
            <a:off x="892412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/>
          <p:nvPr/>
        </p:nvSpPr>
        <p:spPr>
          <a:xfrm flipH="1">
            <a:off x="3485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/>
          <p:nvPr/>
        </p:nvSpPr>
        <p:spPr>
          <a:xfrm flipH="1">
            <a:off x="871037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/>
          <p:nvPr/>
        </p:nvSpPr>
        <p:spPr>
          <a:xfrm flipH="1">
            <a:off x="8488361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280613" y="5667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8811925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86075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8488363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794057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71325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1814525" y="4709600"/>
            <a:ext cx="1945800" cy="1945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1314275" y="-2290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-18577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858020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-51112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145250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/>
          <p:nvPr/>
        </p:nvSpPr>
        <p:spPr>
          <a:xfrm flipH="1">
            <a:off x="8352999" y="5667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/>
          <p:nvPr/>
        </p:nvSpPr>
        <p:spPr>
          <a:xfrm flipH="1">
            <a:off x="61100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3"/>
          <p:cNvSpPr/>
          <p:nvPr/>
        </p:nvSpPr>
        <p:spPr>
          <a:xfrm flipH="1">
            <a:off x="8486950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3"/>
          <p:cNvSpPr/>
          <p:nvPr/>
        </p:nvSpPr>
        <p:spPr>
          <a:xfrm flipH="1">
            <a:off x="145249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6" name="Google Shape;146;p23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/>
        </p:nvSpPr>
        <p:spPr>
          <a:xfrm flipH="1">
            <a:off x="-1654125" y="4005550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/>
          <p:nvPr/>
        </p:nvSpPr>
        <p:spPr>
          <a:xfrm flipH="1">
            <a:off x="88295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/>
          <p:nvPr/>
        </p:nvSpPr>
        <p:spPr>
          <a:xfrm flipH="1">
            <a:off x="8867750" y="380061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/>
          <p:nvPr/>
        </p:nvSpPr>
        <p:spPr>
          <a:xfrm flipH="1">
            <a:off x="-34615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 flipH="1">
            <a:off x="8783600" y="804100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 flipH="1">
            <a:off x="8335961" y="171088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52013" y="56672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8430925" y="243951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5075" y="351445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8107363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 flipH="1">
            <a:off x="6919775" y="-2290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/>
          <p:nvPr/>
        </p:nvSpPr>
        <p:spPr>
          <a:xfrm flipH="1">
            <a:off x="4044775" y="4874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gradFill>
          <a:gsLst>
            <a:gs pos="0">
              <a:schemeClr val="dk2"/>
            </a:gs>
            <a:gs pos="58000">
              <a:srgbClr val="553F9D"/>
            </a:gs>
            <a:gs pos="92000">
              <a:srgbClr val="A05A80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/>
          <p:nvPr/>
        </p:nvSpPr>
        <p:spPr>
          <a:xfrm>
            <a:off x="3361325" y="4701025"/>
            <a:ext cx="2642400" cy="26424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6941850" y="-1774025"/>
            <a:ext cx="2239800" cy="2239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-261975" y="3718063"/>
            <a:ext cx="571500" cy="5715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8808800" y="1914701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-511125" y="732825"/>
            <a:ext cx="1110600" cy="11106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/>
          <p:nvPr/>
        </p:nvSpPr>
        <p:spPr>
          <a:xfrm flipH="1">
            <a:off x="146275" y="233763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/>
          <p:nvPr/>
        </p:nvSpPr>
        <p:spPr>
          <a:xfrm flipH="1">
            <a:off x="8647250" y="3548601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6"/>
          <p:cNvSpPr/>
          <p:nvPr/>
        </p:nvSpPr>
        <p:spPr>
          <a:xfrm flipH="1">
            <a:off x="373849" y="4496175"/>
            <a:ext cx="676239" cy="443027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1542875" y="-381425"/>
            <a:ext cx="694800" cy="6948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/>
          <p:nvPr/>
        </p:nvSpPr>
        <p:spPr>
          <a:xfrm flipH="1">
            <a:off x="8606275" y="1076526"/>
            <a:ext cx="436825" cy="286179"/>
          </a:xfrm>
          <a:custGeom>
            <a:rect b="b" l="l" r="r" t="t"/>
            <a:pathLst>
              <a:path extrusionOk="0" h="68793" w="105006">
                <a:moveTo>
                  <a:pt x="51560" y="686"/>
                </a:moveTo>
                <a:lnTo>
                  <a:pt x="51760" y="715"/>
                </a:lnTo>
                <a:lnTo>
                  <a:pt x="51931" y="743"/>
                </a:lnTo>
                <a:lnTo>
                  <a:pt x="52103" y="829"/>
                </a:lnTo>
                <a:lnTo>
                  <a:pt x="52274" y="972"/>
                </a:lnTo>
                <a:lnTo>
                  <a:pt x="52388" y="1086"/>
                </a:lnTo>
                <a:lnTo>
                  <a:pt x="52474" y="1229"/>
                </a:lnTo>
                <a:lnTo>
                  <a:pt x="52560" y="1400"/>
                </a:lnTo>
                <a:lnTo>
                  <a:pt x="52617" y="1572"/>
                </a:lnTo>
                <a:lnTo>
                  <a:pt x="52731" y="2001"/>
                </a:lnTo>
                <a:lnTo>
                  <a:pt x="52789" y="2458"/>
                </a:lnTo>
                <a:lnTo>
                  <a:pt x="52531" y="2486"/>
                </a:lnTo>
                <a:lnTo>
                  <a:pt x="52246" y="2515"/>
                </a:lnTo>
                <a:lnTo>
                  <a:pt x="51903" y="2572"/>
                </a:lnTo>
                <a:lnTo>
                  <a:pt x="51502" y="2658"/>
                </a:lnTo>
                <a:lnTo>
                  <a:pt x="51074" y="2801"/>
                </a:lnTo>
                <a:lnTo>
                  <a:pt x="50588" y="2972"/>
                </a:lnTo>
                <a:lnTo>
                  <a:pt x="50073" y="3230"/>
                </a:lnTo>
                <a:lnTo>
                  <a:pt x="49502" y="3515"/>
                </a:lnTo>
                <a:lnTo>
                  <a:pt x="48902" y="3887"/>
                </a:lnTo>
                <a:lnTo>
                  <a:pt x="48273" y="4344"/>
                </a:lnTo>
                <a:lnTo>
                  <a:pt x="47644" y="4887"/>
                </a:lnTo>
                <a:lnTo>
                  <a:pt x="46958" y="5487"/>
                </a:lnTo>
                <a:lnTo>
                  <a:pt x="46244" y="6202"/>
                </a:lnTo>
                <a:lnTo>
                  <a:pt x="45501" y="7031"/>
                </a:lnTo>
                <a:lnTo>
                  <a:pt x="44757" y="7945"/>
                </a:lnTo>
                <a:lnTo>
                  <a:pt x="44014" y="9003"/>
                </a:lnTo>
                <a:lnTo>
                  <a:pt x="44014" y="9003"/>
                </a:lnTo>
                <a:lnTo>
                  <a:pt x="44672" y="7802"/>
                </a:lnTo>
                <a:lnTo>
                  <a:pt x="45358" y="6659"/>
                </a:lnTo>
                <a:lnTo>
                  <a:pt x="46044" y="5573"/>
                </a:lnTo>
                <a:lnTo>
                  <a:pt x="46729" y="4544"/>
                </a:lnTo>
                <a:lnTo>
                  <a:pt x="47444" y="3658"/>
                </a:lnTo>
                <a:lnTo>
                  <a:pt x="47787" y="3230"/>
                </a:lnTo>
                <a:lnTo>
                  <a:pt x="48130" y="2829"/>
                </a:lnTo>
                <a:lnTo>
                  <a:pt x="48473" y="2486"/>
                </a:lnTo>
                <a:lnTo>
                  <a:pt x="48816" y="2144"/>
                </a:lnTo>
                <a:lnTo>
                  <a:pt x="49159" y="1858"/>
                </a:lnTo>
                <a:lnTo>
                  <a:pt x="49502" y="1601"/>
                </a:lnTo>
                <a:lnTo>
                  <a:pt x="49988" y="1258"/>
                </a:lnTo>
                <a:lnTo>
                  <a:pt x="50531" y="972"/>
                </a:lnTo>
                <a:lnTo>
                  <a:pt x="50788" y="857"/>
                </a:lnTo>
                <a:lnTo>
                  <a:pt x="51045" y="772"/>
                </a:lnTo>
                <a:lnTo>
                  <a:pt x="51302" y="715"/>
                </a:lnTo>
                <a:lnTo>
                  <a:pt x="51560" y="686"/>
                </a:lnTo>
                <a:close/>
                <a:moveTo>
                  <a:pt x="60020" y="10032"/>
                </a:moveTo>
                <a:lnTo>
                  <a:pt x="60277" y="10060"/>
                </a:lnTo>
                <a:lnTo>
                  <a:pt x="60534" y="10117"/>
                </a:lnTo>
                <a:lnTo>
                  <a:pt x="60763" y="10203"/>
                </a:lnTo>
                <a:lnTo>
                  <a:pt x="60963" y="10289"/>
                </a:lnTo>
                <a:lnTo>
                  <a:pt x="61134" y="10432"/>
                </a:lnTo>
                <a:lnTo>
                  <a:pt x="61248" y="10603"/>
                </a:lnTo>
                <a:lnTo>
                  <a:pt x="61363" y="10803"/>
                </a:lnTo>
                <a:lnTo>
                  <a:pt x="61391" y="10975"/>
                </a:lnTo>
                <a:lnTo>
                  <a:pt x="61420" y="11146"/>
                </a:lnTo>
                <a:lnTo>
                  <a:pt x="61420" y="11318"/>
                </a:lnTo>
                <a:lnTo>
                  <a:pt x="61391" y="11518"/>
                </a:lnTo>
                <a:lnTo>
                  <a:pt x="61306" y="11918"/>
                </a:lnTo>
                <a:lnTo>
                  <a:pt x="61163" y="12375"/>
                </a:lnTo>
                <a:lnTo>
                  <a:pt x="60934" y="12261"/>
                </a:lnTo>
                <a:lnTo>
                  <a:pt x="60648" y="12175"/>
                </a:lnTo>
                <a:lnTo>
                  <a:pt x="60305" y="12061"/>
                </a:lnTo>
                <a:lnTo>
                  <a:pt x="59905" y="11975"/>
                </a:lnTo>
                <a:lnTo>
                  <a:pt x="59476" y="11918"/>
                </a:lnTo>
                <a:lnTo>
                  <a:pt x="58962" y="11861"/>
                </a:lnTo>
                <a:lnTo>
                  <a:pt x="58362" y="11861"/>
                </a:lnTo>
                <a:lnTo>
                  <a:pt x="57733" y="11889"/>
                </a:lnTo>
                <a:lnTo>
                  <a:pt x="57047" y="11947"/>
                </a:lnTo>
                <a:lnTo>
                  <a:pt x="56275" y="12090"/>
                </a:lnTo>
                <a:lnTo>
                  <a:pt x="55475" y="12261"/>
                </a:lnTo>
                <a:lnTo>
                  <a:pt x="54589" y="12518"/>
                </a:lnTo>
                <a:lnTo>
                  <a:pt x="53646" y="12861"/>
                </a:lnTo>
                <a:lnTo>
                  <a:pt x="52617" y="13290"/>
                </a:lnTo>
                <a:lnTo>
                  <a:pt x="51531" y="13776"/>
                </a:lnTo>
                <a:lnTo>
                  <a:pt x="50388" y="14405"/>
                </a:lnTo>
                <a:lnTo>
                  <a:pt x="51531" y="13604"/>
                </a:lnTo>
                <a:lnTo>
                  <a:pt x="52646" y="12861"/>
                </a:lnTo>
                <a:lnTo>
                  <a:pt x="53732" y="12204"/>
                </a:lnTo>
                <a:lnTo>
                  <a:pt x="54818" y="11604"/>
                </a:lnTo>
                <a:lnTo>
                  <a:pt x="55818" y="11089"/>
                </a:lnTo>
                <a:lnTo>
                  <a:pt x="56333" y="10861"/>
                </a:lnTo>
                <a:lnTo>
                  <a:pt x="56818" y="10660"/>
                </a:lnTo>
                <a:lnTo>
                  <a:pt x="57276" y="10489"/>
                </a:lnTo>
                <a:lnTo>
                  <a:pt x="57733" y="10346"/>
                </a:lnTo>
                <a:lnTo>
                  <a:pt x="58162" y="10232"/>
                </a:lnTo>
                <a:lnTo>
                  <a:pt x="58590" y="10146"/>
                </a:lnTo>
                <a:lnTo>
                  <a:pt x="59162" y="10060"/>
                </a:lnTo>
                <a:lnTo>
                  <a:pt x="59734" y="10032"/>
                </a:lnTo>
                <a:close/>
                <a:moveTo>
                  <a:pt x="52789" y="3172"/>
                </a:moveTo>
                <a:lnTo>
                  <a:pt x="52789" y="3630"/>
                </a:lnTo>
                <a:lnTo>
                  <a:pt x="52731" y="4144"/>
                </a:lnTo>
                <a:lnTo>
                  <a:pt x="52646" y="4659"/>
                </a:lnTo>
                <a:lnTo>
                  <a:pt x="52531" y="5202"/>
                </a:lnTo>
                <a:lnTo>
                  <a:pt x="52388" y="5745"/>
                </a:lnTo>
                <a:lnTo>
                  <a:pt x="52246" y="6345"/>
                </a:lnTo>
                <a:lnTo>
                  <a:pt x="52074" y="6945"/>
                </a:lnTo>
                <a:lnTo>
                  <a:pt x="51845" y="7545"/>
                </a:lnTo>
                <a:lnTo>
                  <a:pt x="51588" y="7602"/>
                </a:lnTo>
                <a:lnTo>
                  <a:pt x="51274" y="7688"/>
                </a:lnTo>
                <a:lnTo>
                  <a:pt x="50845" y="7831"/>
                </a:lnTo>
                <a:lnTo>
                  <a:pt x="50331" y="8031"/>
                </a:lnTo>
                <a:lnTo>
                  <a:pt x="49759" y="8288"/>
                </a:lnTo>
                <a:lnTo>
                  <a:pt x="49130" y="8660"/>
                </a:lnTo>
                <a:lnTo>
                  <a:pt x="48416" y="9089"/>
                </a:lnTo>
                <a:lnTo>
                  <a:pt x="47673" y="9660"/>
                </a:lnTo>
                <a:lnTo>
                  <a:pt x="46844" y="10346"/>
                </a:lnTo>
                <a:lnTo>
                  <a:pt x="45986" y="11146"/>
                </a:lnTo>
                <a:lnTo>
                  <a:pt x="45529" y="11604"/>
                </a:lnTo>
                <a:lnTo>
                  <a:pt x="45072" y="12090"/>
                </a:lnTo>
                <a:lnTo>
                  <a:pt x="44586" y="12604"/>
                </a:lnTo>
                <a:lnTo>
                  <a:pt x="44100" y="13176"/>
                </a:lnTo>
                <a:lnTo>
                  <a:pt x="43614" y="13804"/>
                </a:lnTo>
                <a:lnTo>
                  <a:pt x="43100" y="14433"/>
                </a:lnTo>
                <a:lnTo>
                  <a:pt x="42585" y="15148"/>
                </a:lnTo>
                <a:lnTo>
                  <a:pt x="42071" y="15891"/>
                </a:lnTo>
                <a:lnTo>
                  <a:pt x="41556" y="16662"/>
                </a:lnTo>
                <a:lnTo>
                  <a:pt x="41013" y="17491"/>
                </a:lnTo>
                <a:lnTo>
                  <a:pt x="40470" y="18377"/>
                </a:lnTo>
                <a:lnTo>
                  <a:pt x="39927" y="19320"/>
                </a:lnTo>
                <a:lnTo>
                  <a:pt x="39527" y="19177"/>
                </a:lnTo>
                <a:lnTo>
                  <a:pt x="40099" y="17806"/>
                </a:lnTo>
                <a:lnTo>
                  <a:pt x="40642" y="16548"/>
                </a:lnTo>
                <a:lnTo>
                  <a:pt x="41185" y="15348"/>
                </a:lnTo>
                <a:lnTo>
                  <a:pt x="41756" y="14233"/>
                </a:lnTo>
                <a:lnTo>
                  <a:pt x="42299" y="13176"/>
                </a:lnTo>
                <a:lnTo>
                  <a:pt x="42842" y="12204"/>
                </a:lnTo>
                <a:lnTo>
                  <a:pt x="43386" y="11289"/>
                </a:lnTo>
                <a:lnTo>
                  <a:pt x="43900" y="10432"/>
                </a:lnTo>
                <a:lnTo>
                  <a:pt x="44443" y="9632"/>
                </a:lnTo>
                <a:lnTo>
                  <a:pt x="44957" y="8917"/>
                </a:lnTo>
                <a:lnTo>
                  <a:pt x="45472" y="8231"/>
                </a:lnTo>
                <a:lnTo>
                  <a:pt x="45986" y="7631"/>
                </a:lnTo>
                <a:lnTo>
                  <a:pt x="46472" y="7059"/>
                </a:lnTo>
                <a:lnTo>
                  <a:pt x="46958" y="6545"/>
                </a:lnTo>
                <a:lnTo>
                  <a:pt x="47415" y="6059"/>
                </a:lnTo>
                <a:lnTo>
                  <a:pt x="47873" y="5630"/>
                </a:lnTo>
                <a:lnTo>
                  <a:pt x="48330" y="5259"/>
                </a:lnTo>
                <a:lnTo>
                  <a:pt x="48759" y="4916"/>
                </a:lnTo>
                <a:lnTo>
                  <a:pt x="49159" y="4630"/>
                </a:lnTo>
                <a:lnTo>
                  <a:pt x="49559" y="4344"/>
                </a:lnTo>
                <a:lnTo>
                  <a:pt x="49959" y="4116"/>
                </a:lnTo>
                <a:lnTo>
                  <a:pt x="50302" y="3916"/>
                </a:lnTo>
                <a:lnTo>
                  <a:pt x="50674" y="3744"/>
                </a:lnTo>
                <a:lnTo>
                  <a:pt x="50988" y="3601"/>
                </a:lnTo>
                <a:lnTo>
                  <a:pt x="51588" y="3401"/>
                </a:lnTo>
                <a:lnTo>
                  <a:pt x="52074" y="3258"/>
                </a:lnTo>
                <a:lnTo>
                  <a:pt x="52503" y="3201"/>
                </a:lnTo>
                <a:lnTo>
                  <a:pt x="52789" y="3172"/>
                </a:lnTo>
                <a:close/>
                <a:moveTo>
                  <a:pt x="51560" y="8345"/>
                </a:moveTo>
                <a:lnTo>
                  <a:pt x="51274" y="9031"/>
                </a:lnTo>
                <a:lnTo>
                  <a:pt x="50931" y="9717"/>
                </a:lnTo>
                <a:lnTo>
                  <a:pt x="50588" y="10432"/>
                </a:lnTo>
                <a:lnTo>
                  <a:pt x="50216" y="11118"/>
                </a:lnTo>
                <a:lnTo>
                  <a:pt x="49816" y="11804"/>
                </a:lnTo>
                <a:lnTo>
                  <a:pt x="49387" y="12461"/>
                </a:lnTo>
                <a:lnTo>
                  <a:pt x="48930" y="13118"/>
                </a:lnTo>
                <a:lnTo>
                  <a:pt x="48444" y="13747"/>
                </a:lnTo>
                <a:lnTo>
                  <a:pt x="47587" y="14833"/>
                </a:lnTo>
                <a:lnTo>
                  <a:pt x="46672" y="15862"/>
                </a:lnTo>
                <a:lnTo>
                  <a:pt x="45729" y="16862"/>
                </a:lnTo>
                <a:lnTo>
                  <a:pt x="44815" y="17834"/>
                </a:lnTo>
                <a:lnTo>
                  <a:pt x="43414" y="19006"/>
                </a:lnTo>
                <a:lnTo>
                  <a:pt x="42099" y="20149"/>
                </a:lnTo>
                <a:lnTo>
                  <a:pt x="40585" y="19549"/>
                </a:lnTo>
                <a:lnTo>
                  <a:pt x="41528" y="17977"/>
                </a:lnTo>
                <a:lnTo>
                  <a:pt x="42471" y="16577"/>
                </a:lnTo>
                <a:lnTo>
                  <a:pt x="43357" y="15291"/>
                </a:lnTo>
                <a:lnTo>
                  <a:pt x="44243" y="14147"/>
                </a:lnTo>
                <a:lnTo>
                  <a:pt x="45072" y="13147"/>
                </a:lnTo>
                <a:lnTo>
                  <a:pt x="45901" y="12261"/>
                </a:lnTo>
                <a:lnTo>
                  <a:pt x="46672" y="11489"/>
                </a:lnTo>
                <a:lnTo>
                  <a:pt x="47415" y="10803"/>
                </a:lnTo>
                <a:lnTo>
                  <a:pt x="48101" y="10232"/>
                </a:lnTo>
                <a:lnTo>
                  <a:pt x="48759" y="9746"/>
                </a:lnTo>
                <a:lnTo>
                  <a:pt x="49359" y="9346"/>
                </a:lnTo>
                <a:lnTo>
                  <a:pt x="49931" y="9031"/>
                </a:lnTo>
                <a:lnTo>
                  <a:pt x="50416" y="8774"/>
                </a:lnTo>
                <a:lnTo>
                  <a:pt x="50845" y="8574"/>
                </a:lnTo>
                <a:lnTo>
                  <a:pt x="51245" y="8431"/>
                </a:lnTo>
                <a:lnTo>
                  <a:pt x="51560" y="8345"/>
                </a:lnTo>
                <a:close/>
                <a:moveTo>
                  <a:pt x="58419" y="12604"/>
                </a:moveTo>
                <a:lnTo>
                  <a:pt x="59134" y="12633"/>
                </a:lnTo>
                <a:lnTo>
                  <a:pt x="59734" y="12690"/>
                </a:lnTo>
                <a:lnTo>
                  <a:pt x="60220" y="12804"/>
                </a:lnTo>
                <a:lnTo>
                  <a:pt x="60591" y="12918"/>
                </a:lnTo>
                <a:lnTo>
                  <a:pt x="60877" y="13004"/>
                </a:lnTo>
                <a:lnTo>
                  <a:pt x="60648" y="13433"/>
                </a:lnTo>
                <a:lnTo>
                  <a:pt x="60362" y="13833"/>
                </a:lnTo>
                <a:lnTo>
                  <a:pt x="60077" y="14262"/>
                </a:lnTo>
                <a:lnTo>
                  <a:pt x="59734" y="14719"/>
                </a:lnTo>
                <a:lnTo>
                  <a:pt x="59362" y="15148"/>
                </a:lnTo>
                <a:lnTo>
                  <a:pt x="58962" y="15605"/>
                </a:lnTo>
                <a:lnTo>
                  <a:pt x="58562" y="16062"/>
                </a:lnTo>
                <a:lnTo>
                  <a:pt x="58105" y="16519"/>
                </a:lnTo>
                <a:lnTo>
                  <a:pt x="57876" y="16462"/>
                </a:lnTo>
                <a:lnTo>
                  <a:pt x="57533" y="16405"/>
                </a:lnTo>
                <a:lnTo>
                  <a:pt x="57133" y="16348"/>
                </a:lnTo>
                <a:lnTo>
                  <a:pt x="56647" y="16291"/>
                </a:lnTo>
                <a:lnTo>
                  <a:pt x="56075" y="16291"/>
                </a:lnTo>
                <a:lnTo>
                  <a:pt x="55418" y="16319"/>
                </a:lnTo>
                <a:lnTo>
                  <a:pt x="54675" y="16377"/>
                </a:lnTo>
                <a:lnTo>
                  <a:pt x="53817" y="16519"/>
                </a:lnTo>
                <a:lnTo>
                  <a:pt x="52903" y="16691"/>
                </a:lnTo>
                <a:lnTo>
                  <a:pt x="51874" y="16977"/>
                </a:lnTo>
                <a:lnTo>
                  <a:pt x="50788" y="17348"/>
                </a:lnTo>
                <a:lnTo>
                  <a:pt x="49559" y="17806"/>
                </a:lnTo>
                <a:lnTo>
                  <a:pt x="48273" y="18377"/>
                </a:lnTo>
                <a:lnTo>
                  <a:pt x="47587" y="18692"/>
                </a:lnTo>
                <a:lnTo>
                  <a:pt x="46872" y="19063"/>
                </a:lnTo>
                <a:lnTo>
                  <a:pt x="46158" y="19435"/>
                </a:lnTo>
                <a:lnTo>
                  <a:pt x="45386" y="19863"/>
                </a:lnTo>
                <a:lnTo>
                  <a:pt x="44614" y="20321"/>
                </a:lnTo>
                <a:lnTo>
                  <a:pt x="43814" y="20807"/>
                </a:lnTo>
                <a:lnTo>
                  <a:pt x="43100" y="20521"/>
                </a:lnTo>
                <a:lnTo>
                  <a:pt x="44129" y="19663"/>
                </a:lnTo>
                <a:lnTo>
                  <a:pt x="45100" y="18863"/>
                </a:lnTo>
                <a:lnTo>
                  <a:pt x="46044" y="18120"/>
                </a:lnTo>
                <a:lnTo>
                  <a:pt x="46987" y="17434"/>
                </a:lnTo>
                <a:lnTo>
                  <a:pt x="47873" y="16805"/>
                </a:lnTo>
                <a:lnTo>
                  <a:pt x="48730" y="16234"/>
                </a:lnTo>
                <a:lnTo>
                  <a:pt x="49559" y="15719"/>
                </a:lnTo>
                <a:lnTo>
                  <a:pt x="50359" y="15262"/>
                </a:lnTo>
                <a:lnTo>
                  <a:pt x="51131" y="14833"/>
                </a:lnTo>
                <a:lnTo>
                  <a:pt x="51845" y="14433"/>
                </a:lnTo>
                <a:lnTo>
                  <a:pt x="52560" y="14119"/>
                </a:lnTo>
                <a:lnTo>
                  <a:pt x="53246" y="13804"/>
                </a:lnTo>
                <a:lnTo>
                  <a:pt x="53903" y="13547"/>
                </a:lnTo>
                <a:lnTo>
                  <a:pt x="54503" y="13347"/>
                </a:lnTo>
                <a:lnTo>
                  <a:pt x="55104" y="13147"/>
                </a:lnTo>
                <a:lnTo>
                  <a:pt x="55647" y="13004"/>
                </a:lnTo>
                <a:lnTo>
                  <a:pt x="56190" y="12861"/>
                </a:lnTo>
                <a:lnTo>
                  <a:pt x="56704" y="12775"/>
                </a:lnTo>
                <a:lnTo>
                  <a:pt x="57161" y="12690"/>
                </a:lnTo>
                <a:lnTo>
                  <a:pt x="57619" y="12633"/>
                </a:lnTo>
                <a:lnTo>
                  <a:pt x="58047" y="12604"/>
                </a:lnTo>
                <a:close/>
                <a:moveTo>
                  <a:pt x="39241" y="19921"/>
                </a:moveTo>
                <a:lnTo>
                  <a:pt x="39527" y="20035"/>
                </a:lnTo>
                <a:lnTo>
                  <a:pt x="38984" y="21007"/>
                </a:lnTo>
                <a:lnTo>
                  <a:pt x="38470" y="22035"/>
                </a:lnTo>
                <a:lnTo>
                  <a:pt x="39241" y="19921"/>
                </a:lnTo>
                <a:close/>
                <a:moveTo>
                  <a:pt x="36898" y="19063"/>
                </a:moveTo>
                <a:lnTo>
                  <a:pt x="37098" y="19120"/>
                </a:lnTo>
                <a:lnTo>
                  <a:pt x="37612" y="19292"/>
                </a:lnTo>
                <a:lnTo>
                  <a:pt x="38355" y="19549"/>
                </a:lnTo>
                <a:lnTo>
                  <a:pt x="37269" y="22321"/>
                </a:lnTo>
                <a:lnTo>
                  <a:pt x="36898" y="21578"/>
                </a:lnTo>
                <a:lnTo>
                  <a:pt x="36612" y="20921"/>
                </a:lnTo>
                <a:lnTo>
                  <a:pt x="36440" y="20406"/>
                </a:lnTo>
                <a:lnTo>
                  <a:pt x="36383" y="20206"/>
                </a:lnTo>
                <a:lnTo>
                  <a:pt x="36383" y="20063"/>
                </a:lnTo>
                <a:lnTo>
                  <a:pt x="36355" y="19692"/>
                </a:lnTo>
                <a:lnTo>
                  <a:pt x="36355" y="19406"/>
                </a:lnTo>
                <a:lnTo>
                  <a:pt x="36383" y="19292"/>
                </a:lnTo>
                <a:lnTo>
                  <a:pt x="36412" y="19206"/>
                </a:lnTo>
                <a:lnTo>
                  <a:pt x="36440" y="19120"/>
                </a:lnTo>
                <a:lnTo>
                  <a:pt x="36526" y="19092"/>
                </a:lnTo>
                <a:lnTo>
                  <a:pt x="36612" y="19063"/>
                </a:lnTo>
                <a:close/>
                <a:moveTo>
                  <a:pt x="56390" y="17005"/>
                </a:moveTo>
                <a:lnTo>
                  <a:pt x="56818" y="17034"/>
                </a:lnTo>
                <a:lnTo>
                  <a:pt x="57190" y="17062"/>
                </a:lnTo>
                <a:lnTo>
                  <a:pt x="57476" y="17091"/>
                </a:lnTo>
                <a:lnTo>
                  <a:pt x="56904" y="17606"/>
                </a:lnTo>
                <a:lnTo>
                  <a:pt x="56304" y="18091"/>
                </a:lnTo>
                <a:lnTo>
                  <a:pt x="55704" y="18549"/>
                </a:lnTo>
                <a:lnTo>
                  <a:pt x="55046" y="19006"/>
                </a:lnTo>
                <a:lnTo>
                  <a:pt x="54389" y="19463"/>
                </a:lnTo>
                <a:lnTo>
                  <a:pt x="53703" y="19863"/>
                </a:lnTo>
                <a:lnTo>
                  <a:pt x="53017" y="20264"/>
                </a:lnTo>
                <a:lnTo>
                  <a:pt x="52303" y="20606"/>
                </a:lnTo>
                <a:lnTo>
                  <a:pt x="51188" y="21121"/>
                </a:lnTo>
                <a:lnTo>
                  <a:pt x="50073" y="21607"/>
                </a:lnTo>
                <a:lnTo>
                  <a:pt x="48930" y="22064"/>
                </a:lnTo>
                <a:lnTo>
                  <a:pt x="47816" y="22464"/>
                </a:lnTo>
                <a:lnTo>
                  <a:pt x="44643" y="21149"/>
                </a:lnTo>
                <a:lnTo>
                  <a:pt x="45958" y="20378"/>
                </a:lnTo>
                <a:lnTo>
                  <a:pt x="47187" y="19692"/>
                </a:lnTo>
                <a:lnTo>
                  <a:pt x="48387" y="19120"/>
                </a:lnTo>
                <a:lnTo>
                  <a:pt x="49502" y="18606"/>
                </a:lnTo>
                <a:lnTo>
                  <a:pt x="50531" y="18206"/>
                </a:lnTo>
                <a:lnTo>
                  <a:pt x="51502" y="17863"/>
                </a:lnTo>
                <a:lnTo>
                  <a:pt x="52388" y="17577"/>
                </a:lnTo>
                <a:lnTo>
                  <a:pt x="53217" y="17377"/>
                </a:lnTo>
                <a:lnTo>
                  <a:pt x="53989" y="17205"/>
                </a:lnTo>
                <a:lnTo>
                  <a:pt x="54703" y="17120"/>
                </a:lnTo>
                <a:lnTo>
                  <a:pt x="55332" y="17034"/>
                </a:lnTo>
                <a:lnTo>
                  <a:pt x="55875" y="17005"/>
                </a:lnTo>
                <a:close/>
                <a:moveTo>
                  <a:pt x="40184" y="20292"/>
                </a:moveTo>
                <a:lnTo>
                  <a:pt x="41356" y="20807"/>
                </a:lnTo>
                <a:lnTo>
                  <a:pt x="39870" y="22150"/>
                </a:lnTo>
                <a:lnTo>
                  <a:pt x="38584" y="23322"/>
                </a:lnTo>
                <a:lnTo>
                  <a:pt x="39384" y="21750"/>
                </a:lnTo>
                <a:lnTo>
                  <a:pt x="40184" y="20292"/>
                </a:lnTo>
                <a:close/>
                <a:moveTo>
                  <a:pt x="42328" y="21207"/>
                </a:moveTo>
                <a:lnTo>
                  <a:pt x="42871" y="21435"/>
                </a:lnTo>
                <a:lnTo>
                  <a:pt x="41328" y="22493"/>
                </a:lnTo>
                <a:lnTo>
                  <a:pt x="39699" y="23665"/>
                </a:lnTo>
                <a:lnTo>
                  <a:pt x="39699" y="23665"/>
                </a:lnTo>
                <a:lnTo>
                  <a:pt x="41042" y="22378"/>
                </a:lnTo>
                <a:lnTo>
                  <a:pt x="42328" y="21207"/>
                </a:lnTo>
                <a:close/>
                <a:moveTo>
                  <a:pt x="29552" y="17720"/>
                </a:moveTo>
                <a:lnTo>
                  <a:pt x="29610" y="17748"/>
                </a:lnTo>
                <a:lnTo>
                  <a:pt x="29667" y="17806"/>
                </a:lnTo>
                <a:lnTo>
                  <a:pt x="29867" y="18006"/>
                </a:lnTo>
                <a:lnTo>
                  <a:pt x="30095" y="18291"/>
                </a:lnTo>
                <a:lnTo>
                  <a:pt x="30381" y="18663"/>
                </a:lnTo>
                <a:lnTo>
                  <a:pt x="31067" y="19606"/>
                </a:lnTo>
                <a:lnTo>
                  <a:pt x="31810" y="20692"/>
                </a:lnTo>
                <a:lnTo>
                  <a:pt x="33154" y="22750"/>
                </a:lnTo>
                <a:lnTo>
                  <a:pt x="33868" y="23836"/>
                </a:lnTo>
                <a:lnTo>
                  <a:pt x="33782" y="23779"/>
                </a:lnTo>
                <a:lnTo>
                  <a:pt x="33582" y="23693"/>
                </a:lnTo>
                <a:lnTo>
                  <a:pt x="33268" y="23607"/>
                </a:lnTo>
                <a:lnTo>
                  <a:pt x="32868" y="23493"/>
                </a:lnTo>
                <a:lnTo>
                  <a:pt x="32611" y="23465"/>
                </a:lnTo>
                <a:lnTo>
                  <a:pt x="32010" y="23465"/>
                </a:lnTo>
                <a:lnTo>
                  <a:pt x="31667" y="23493"/>
                </a:lnTo>
                <a:lnTo>
                  <a:pt x="31296" y="23522"/>
                </a:lnTo>
                <a:lnTo>
                  <a:pt x="30867" y="23607"/>
                </a:lnTo>
                <a:lnTo>
                  <a:pt x="30438" y="23722"/>
                </a:lnTo>
                <a:lnTo>
                  <a:pt x="29953" y="23836"/>
                </a:lnTo>
                <a:lnTo>
                  <a:pt x="29838" y="22893"/>
                </a:lnTo>
                <a:lnTo>
                  <a:pt x="29581" y="20778"/>
                </a:lnTo>
                <a:lnTo>
                  <a:pt x="29467" y="19635"/>
                </a:lnTo>
                <a:lnTo>
                  <a:pt x="29410" y="18663"/>
                </a:lnTo>
                <a:lnTo>
                  <a:pt x="29410" y="18263"/>
                </a:lnTo>
                <a:lnTo>
                  <a:pt x="29438" y="17977"/>
                </a:lnTo>
                <a:lnTo>
                  <a:pt x="29467" y="17777"/>
                </a:lnTo>
                <a:lnTo>
                  <a:pt x="29524" y="17748"/>
                </a:lnTo>
                <a:lnTo>
                  <a:pt x="29552" y="17720"/>
                </a:lnTo>
                <a:close/>
                <a:moveTo>
                  <a:pt x="43643" y="21778"/>
                </a:moveTo>
                <a:lnTo>
                  <a:pt x="46444" y="22950"/>
                </a:lnTo>
                <a:lnTo>
                  <a:pt x="45415" y="23293"/>
                </a:lnTo>
                <a:lnTo>
                  <a:pt x="44414" y="23579"/>
                </a:lnTo>
                <a:lnTo>
                  <a:pt x="42500" y="24122"/>
                </a:lnTo>
                <a:lnTo>
                  <a:pt x="40756" y="24551"/>
                </a:lnTo>
                <a:lnTo>
                  <a:pt x="39241" y="24894"/>
                </a:lnTo>
                <a:lnTo>
                  <a:pt x="40413" y="24008"/>
                </a:lnTo>
                <a:lnTo>
                  <a:pt x="41528" y="23207"/>
                </a:lnTo>
                <a:lnTo>
                  <a:pt x="42585" y="22464"/>
                </a:lnTo>
                <a:lnTo>
                  <a:pt x="43643" y="21778"/>
                </a:lnTo>
                <a:close/>
                <a:moveTo>
                  <a:pt x="54732" y="24236"/>
                </a:moveTo>
                <a:lnTo>
                  <a:pt x="54846" y="24265"/>
                </a:lnTo>
                <a:lnTo>
                  <a:pt x="55418" y="24551"/>
                </a:lnTo>
                <a:lnTo>
                  <a:pt x="54332" y="25294"/>
                </a:lnTo>
                <a:lnTo>
                  <a:pt x="52874" y="24665"/>
                </a:lnTo>
                <a:lnTo>
                  <a:pt x="53589" y="24465"/>
                </a:lnTo>
                <a:lnTo>
                  <a:pt x="54160" y="24293"/>
                </a:lnTo>
                <a:lnTo>
                  <a:pt x="54589" y="24236"/>
                </a:lnTo>
                <a:close/>
                <a:moveTo>
                  <a:pt x="47415" y="23350"/>
                </a:moveTo>
                <a:lnTo>
                  <a:pt x="50216" y="24493"/>
                </a:lnTo>
                <a:lnTo>
                  <a:pt x="48930" y="24865"/>
                </a:lnTo>
                <a:lnTo>
                  <a:pt x="47615" y="25294"/>
                </a:lnTo>
                <a:lnTo>
                  <a:pt x="46301" y="25808"/>
                </a:lnTo>
                <a:lnTo>
                  <a:pt x="45643" y="26065"/>
                </a:lnTo>
                <a:lnTo>
                  <a:pt x="45015" y="26351"/>
                </a:lnTo>
                <a:lnTo>
                  <a:pt x="40699" y="28352"/>
                </a:lnTo>
                <a:lnTo>
                  <a:pt x="40213" y="27552"/>
                </a:lnTo>
                <a:lnTo>
                  <a:pt x="39098" y="25637"/>
                </a:lnTo>
                <a:lnTo>
                  <a:pt x="40785" y="25265"/>
                </a:lnTo>
                <a:lnTo>
                  <a:pt x="42785" y="24751"/>
                </a:lnTo>
                <a:lnTo>
                  <a:pt x="43900" y="24465"/>
                </a:lnTo>
                <a:lnTo>
                  <a:pt x="45043" y="24122"/>
                </a:lnTo>
                <a:lnTo>
                  <a:pt x="46215" y="23750"/>
                </a:lnTo>
                <a:lnTo>
                  <a:pt x="47415" y="23350"/>
                </a:lnTo>
                <a:close/>
                <a:moveTo>
                  <a:pt x="37955" y="33296"/>
                </a:moveTo>
                <a:lnTo>
                  <a:pt x="39156" y="33353"/>
                </a:lnTo>
                <a:lnTo>
                  <a:pt x="39727" y="33382"/>
                </a:lnTo>
                <a:lnTo>
                  <a:pt x="40184" y="33353"/>
                </a:lnTo>
                <a:lnTo>
                  <a:pt x="39527" y="39012"/>
                </a:lnTo>
                <a:lnTo>
                  <a:pt x="33982" y="38298"/>
                </a:lnTo>
                <a:lnTo>
                  <a:pt x="34583" y="36869"/>
                </a:lnTo>
                <a:lnTo>
                  <a:pt x="35126" y="35668"/>
                </a:lnTo>
                <a:lnTo>
                  <a:pt x="35612" y="34754"/>
                </a:lnTo>
                <a:lnTo>
                  <a:pt x="35783" y="34411"/>
                </a:lnTo>
                <a:lnTo>
                  <a:pt x="35955" y="34154"/>
                </a:lnTo>
                <a:lnTo>
                  <a:pt x="36383" y="34011"/>
                </a:lnTo>
                <a:lnTo>
                  <a:pt x="36698" y="33839"/>
                </a:lnTo>
                <a:lnTo>
                  <a:pt x="36926" y="33696"/>
                </a:lnTo>
                <a:lnTo>
                  <a:pt x="37126" y="33553"/>
                </a:lnTo>
                <a:lnTo>
                  <a:pt x="37298" y="33439"/>
                </a:lnTo>
                <a:lnTo>
                  <a:pt x="37498" y="33353"/>
                </a:lnTo>
                <a:lnTo>
                  <a:pt x="37698" y="33296"/>
                </a:lnTo>
                <a:close/>
                <a:moveTo>
                  <a:pt x="51274" y="0"/>
                </a:moveTo>
                <a:lnTo>
                  <a:pt x="51017" y="57"/>
                </a:lnTo>
                <a:lnTo>
                  <a:pt x="50731" y="143"/>
                </a:lnTo>
                <a:lnTo>
                  <a:pt x="50445" y="229"/>
                </a:lnTo>
                <a:lnTo>
                  <a:pt x="50131" y="372"/>
                </a:lnTo>
                <a:lnTo>
                  <a:pt x="49816" y="543"/>
                </a:lnTo>
                <a:lnTo>
                  <a:pt x="49473" y="772"/>
                </a:lnTo>
                <a:lnTo>
                  <a:pt x="49073" y="1029"/>
                </a:lnTo>
                <a:lnTo>
                  <a:pt x="48730" y="1315"/>
                </a:lnTo>
                <a:lnTo>
                  <a:pt x="48359" y="1601"/>
                </a:lnTo>
                <a:lnTo>
                  <a:pt x="48016" y="1943"/>
                </a:lnTo>
                <a:lnTo>
                  <a:pt x="47644" y="2315"/>
                </a:lnTo>
                <a:lnTo>
                  <a:pt x="47301" y="2715"/>
                </a:lnTo>
                <a:lnTo>
                  <a:pt x="46930" y="3144"/>
                </a:lnTo>
                <a:lnTo>
                  <a:pt x="46215" y="4087"/>
                </a:lnTo>
                <a:lnTo>
                  <a:pt x="45501" y="5116"/>
                </a:lnTo>
                <a:lnTo>
                  <a:pt x="44786" y="6231"/>
                </a:lnTo>
                <a:lnTo>
                  <a:pt x="44071" y="7402"/>
                </a:lnTo>
                <a:lnTo>
                  <a:pt x="43386" y="8631"/>
                </a:lnTo>
                <a:lnTo>
                  <a:pt x="42728" y="9889"/>
                </a:lnTo>
                <a:lnTo>
                  <a:pt x="42071" y="11204"/>
                </a:lnTo>
                <a:lnTo>
                  <a:pt x="41413" y="12518"/>
                </a:lnTo>
                <a:lnTo>
                  <a:pt x="40813" y="13833"/>
                </a:lnTo>
                <a:lnTo>
                  <a:pt x="40213" y="15119"/>
                </a:lnTo>
                <a:lnTo>
                  <a:pt x="39670" y="16405"/>
                </a:lnTo>
                <a:lnTo>
                  <a:pt x="38641" y="18834"/>
                </a:lnTo>
                <a:lnTo>
                  <a:pt x="37355" y="18434"/>
                </a:lnTo>
                <a:lnTo>
                  <a:pt x="36783" y="18263"/>
                </a:lnTo>
                <a:lnTo>
                  <a:pt x="36326" y="18149"/>
                </a:lnTo>
                <a:lnTo>
                  <a:pt x="35926" y="18063"/>
                </a:lnTo>
                <a:lnTo>
                  <a:pt x="35612" y="18034"/>
                </a:lnTo>
                <a:lnTo>
                  <a:pt x="35383" y="18063"/>
                </a:lnTo>
                <a:lnTo>
                  <a:pt x="35326" y="18091"/>
                </a:lnTo>
                <a:lnTo>
                  <a:pt x="35269" y="18120"/>
                </a:lnTo>
                <a:lnTo>
                  <a:pt x="35211" y="18234"/>
                </a:lnTo>
                <a:lnTo>
                  <a:pt x="35154" y="18377"/>
                </a:lnTo>
                <a:lnTo>
                  <a:pt x="35126" y="18692"/>
                </a:lnTo>
                <a:lnTo>
                  <a:pt x="35126" y="19063"/>
                </a:lnTo>
                <a:lnTo>
                  <a:pt x="35183" y="19463"/>
                </a:lnTo>
                <a:lnTo>
                  <a:pt x="35269" y="19921"/>
                </a:lnTo>
                <a:lnTo>
                  <a:pt x="35412" y="20406"/>
                </a:lnTo>
                <a:lnTo>
                  <a:pt x="35697" y="21378"/>
                </a:lnTo>
                <a:lnTo>
                  <a:pt x="36040" y="22321"/>
                </a:lnTo>
                <a:lnTo>
                  <a:pt x="36355" y="23093"/>
                </a:lnTo>
                <a:lnTo>
                  <a:pt x="36669" y="23836"/>
                </a:lnTo>
                <a:lnTo>
                  <a:pt x="34868" y="23722"/>
                </a:lnTo>
                <a:lnTo>
                  <a:pt x="33954" y="22293"/>
                </a:lnTo>
                <a:lnTo>
                  <a:pt x="33011" y="20835"/>
                </a:lnTo>
                <a:lnTo>
                  <a:pt x="31896" y="19206"/>
                </a:lnTo>
                <a:lnTo>
                  <a:pt x="30810" y="17634"/>
                </a:lnTo>
                <a:lnTo>
                  <a:pt x="30296" y="16920"/>
                </a:lnTo>
                <a:lnTo>
                  <a:pt x="29810" y="16291"/>
                </a:lnTo>
                <a:lnTo>
                  <a:pt x="29410" y="15805"/>
                </a:lnTo>
                <a:lnTo>
                  <a:pt x="29095" y="15491"/>
                </a:lnTo>
                <a:lnTo>
                  <a:pt x="28952" y="15376"/>
                </a:lnTo>
                <a:lnTo>
                  <a:pt x="28867" y="15348"/>
                </a:lnTo>
                <a:lnTo>
                  <a:pt x="28781" y="15348"/>
                </a:lnTo>
                <a:lnTo>
                  <a:pt x="28752" y="15405"/>
                </a:lnTo>
                <a:lnTo>
                  <a:pt x="28695" y="15662"/>
                </a:lnTo>
                <a:lnTo>
                  <a:pt x="28666" y="16034"/>
                </a:lnTo>
                <a:lnTo>
                  <a:pt x="28638" y="17148"/>
                </a:lnTo>
                <a:lnTo>
                  <a:pt x="28695" y="18549"/>
                </a:lnTo>
                <a:lnTo>
                  <a:pt x="28752" y="20063"/>
                </a:lnTo>
                <a:lnTo>
                  <a:pt x="28895" y="22807"/>
                </a:lnTo>
                <a:lnTo>
                  <a:pt x="28981" y="24036"/>
                </a:lnTo>
                <a:lnTo>
                  <a:pt x="28724" y="24208"/>
                </a:lnTo>
                <a:lnTo>
                  <a:pt x="28466" y="24436"/>
                </a:lnTo>
                <a:lnTo>
                  <a:pt x="28152" y="24751"/>
                </a:lnTo>
                <a:lnTo>
                  <a:pt x="27866" y="25094"/>
                </a:lnTo>
                <a:lnTo>
                  <a:pt x="27723" y="25294"/>
                </a:lnTo>
                <a:lnTo>
                  <a:pt x="27609" y="25522"/>
                </a:lnTo>
                <a:lnTo>
                  <a:pt x="27523" y="25751"/>
                </a:lnTo>
                <a:lnTo>
                  <a:pt x="27437" y="25980"/>
                </a:lnTo>
                <a:lnTo>
                  <a:pt x="27409" y="26208"/>
                </a:lnTo>
                <a:lnTo>
                  <a:pt x="27409" y="26465"/>
                </a:lnTo>
                <a:lnTo>
                  <a:pt x="27295" y="26437"/>
                </a:lnTo>
                <a:lnTo>
                  <a:pt x="26980" y="26408"/>
                </a:lnTo>
                <a:lnTo>
                  <a:pt x="26752" y="26380"/>
                </a:lnTo>
                <a:lnTo>
                  <a:pt x="26523" y="26408"/>
                </a:lnTo>
                <a:lnTo>
                  <a:pt x="26266" y="26437"/>
                </a:lnTo>
                <a:lnTo>
                  <a:pt x="25980" y="26494"/>
                </a:lnTo>
                <a:lnTo>
                  <a:pt x="25694" y="26608"/>
                </a:lnTo>
                <a:lnTo>
                  <a:pt x="25408" y="26751"/>
                </a:lnTo>
                <a:lnTo>
                  <a:pt x="25151" y="26980"/>
                </a:lnTo>
                <a:lnTo>
                  <a:pt x="24894" y="27266"/>
                </a:lnTo>
                <a:lnTo>
                  <a:pt x="24637" y="27609"/>
                </a:lnTo>
                <a:lnTo>
                  <a:pt x="24437" y="28037"/>
                </a:lnTo>
                <a:lnTo>
                  <a:pt x="24265" y="28552"/>
                </a:lnTo>
                <a:lnTo>
                  <a:pt x="24122" y="29152"/>
                </a:lnTo>
                <a:lnTo>
                  <a:pt x="23893" y="30381"/>
                </a:lnTo>
                <a:lnTo>
                  <a:pt x="23665" y="31410"/>
                </a:lnTo>
                <a:lnTo>
                  <a:pt x="23379" y="32324"/>
                </a:lnTo>
                <a:lnTo>
                  <a:pt x="23093" y="33096"/>
                </a:lnTo>
                <a:lnTo>
                  <a:pt x="22922" y="33410"/>
                </a:lnTo>
                <a:lnTo>
                  <a:pt x="22779" y="33725"/>
                </a:lnTo>
                <a:lnTo>
                  <a:pt x="22607" y="34011"/>
                </a:lnTo>
                <a:lnTo>
                  <a:pt x="22436" y="34268"/>
                </a:lnTo>
                <a:lnTo>
                  <a:pt x="22064" y="34725"/>
                </a:lnTo>
                <a:lnTo>
                  <a:pt x="21693" y="35097"/>
                </a:lnTo>
                <a:lnTo>
                  <a:pt x="21378" y="35383"/>
                </a:lnTo>
                <a:lnTo>
                  <a:pt x="20921" y="35926"/>
                </a:lnTo>
                <a:lnTo>
                  <a:pt x="19549" y="37526"/>
                </a:lnTo>
                <a:lnTo>
                  <a:pt x="17777" y="39641"/>
                </a:lnTo>
                <a:lnTo>
                  <a:pt x="15862" y="41985"/>
                </a:lnTo>
                <a:lnTo>
                  <a:pt x="12375" y="46243"/>
                </a:lnTo>
                <a:lnTo>
                  <a:pt x="10832" y="48158"/>
                </a:lnTo>
                <a:lnTo>
                  <a:pt x="10832" y="48244"/>
                </a:lnTo>
                <a:lnTo>
                  <a:pt x="10861" y="48301"/>
                </a:lnTo>
                <a:lnTo>
                  <a:pt x="10918" y="48301"/>
                </a:lnTo>
                <a:lnTo>
                  <a:pt x="11089" y="48187"/>
                </a:lnTo>
                <a:lnTo>
                  <a:pt x="11347" y="47986"/>
                </a:lnTo>
                <a:lnTo>
                  <a:pt x="11718" y="47586"/>
                </a:lnTo>
                <a:lnTo>
                  <a:pt x="12233" y="46986"/>
                </a:lnTo>
                <a:lnTo>
                  <a:pt x="13061" y="45957"/>
                </a:lnTo>
                <a:lnTo>
                  <a:pt x="14233" y="44500"/>
                </a:lnTo>
                <a:lnTo>
                  <a:pt x="15662" y="42728"/>
                </a:lnTo>
                <a:lnTo>
                  <a:pt x="17148" y="40841"/>
                </a:lnTo>
                <a:lnTo>
                  <a:pt x="18663" y="39012"/>
                </a:lnTo>
                <a:lnTo>
                  <a:pt x="19378" y="38183"/>
                </a:lnTo>
                <a:lnTo>
                  <a:pt x="20035" y="37412"/>
                </a:lnTo>
                <a:lnTo>
                  <a:pt x="20607" y="36783"/>
                </a:lnTo>
                <a:lnTo>
                  <a:pt x="21121" y="36269"/>
                </a:lnTo>
                <a:lnTo>
                  <a:pt x="21550" y="35897"/>
                </a:lnTo>
                <a:lnTo>
                  <a:pt x="21721" y="35754"/>
                </a:lnTo>
                <a:lnTo>
                  <a:pt x="21864" y="35668"/>
                </a:lnTo>
                <a:lnTo>
                  <a:pt x="22379" y="35440"/>
                </a:lnTo>
                <a:lnTo>
                  <a:pt x="22893" y="35125"/>
                </a:lnTo>
                <a:lnTo>
                  <a:pt x="23436" y="34811"/>
                </a:lnTo>
                <a:lnTo>
                  <a:pt x="23893" y="34439"/>
                </a:lnTo>
                <a:lnTo>
                  <a:pt x="24322" y="34068"/>
                </a:lnTo>
                <a:lnTo>
                  <a:pt x="24494" y="33868"/>
                </a:lnTo>
                <a:lnTo>
                  <a:pt x="24665" y="33668"/>
                </a:lnTo>
                <a:lnTo>
                  <a:pt x="24779" y="33496"/>
                </a:lnTo>
                <a:lnTo>
                  <a:pt x="24865" y="33296"/>
                </a:lnTo>
                <a:lnTo>
                  <a:pt x="24922" y="33125"/>
                </a:lnTo>
                <a:lnTo>
                  <a:pt x="24951" y="32953"/>
                </a:lnTo>
                <a:lnTo>
                  <a:pt x="25351" y="32867"/>
                </a:lnTo>
                <a:lnTo>
                  <a:pt x="25694" y="32839"/>
                </a:lnTo>
                <a:lnTo>
                  <a:pt x="26380" y="32782"/>
                </a:lnTo>
                <a:lnTo>
                  <a:pt x="26723" y="32753"/>
                </a:lnTo>
                <a:lnTo>
                  <a:pt x="27066" y="32696"/>
                </a:lnTo>
                <a:lnTo>
                  <a:pt x="27437" y="32582"/>
                </a:lnTo>
                <a:lnTo>
                  <a:pt x="27866" y="32410"/>
                </a:lnTo>
                <a:lnTo>
                  <a:pt x="28266" y="32267"/>
                </a:lnTo>
                <a:lnTo>
                  <a:pt x="28666" y="32182"/>
                </a:lnTo>
                <a:lnTo>
                  <a:pt x="29009" y="32182"/>
                </a:lnTo>
                <a:lnTo>
                  <a:pt x="29324" y="32239"/>
                </a:lnTo>
                <a:lnTo>
                  <a:pt x="29638" y="32353"/>
                </a:lnTo>
                <a:lnTo>
                  <a:pt x="29981" y="32553"/>
                </a:lnTo>
                <a:lnTo>
                  <a:pt x="30296" y="32782"/>
                </a:lnTo>
                <a:lnTo>
                  <a:pt x="30667" y="33068"/>
                </a:lnTo>
                <a:lnTo>
                  <a:pt x="31067" y="33353"/>
                </a:lnTo>
                <a:lnTo>
                  <a:pt x="31525" y="33668"/>
                </a:lnTo>
                <a:lnTo>
                  <a:pt x="32010" y="33954"/>
                </a:lnTo>
                <a:lnTo>
                  <a:pt x="32553" y="34182"/>
                </a:lnTo>
                <a:lnTo>
                  <a:pt x="33125" y="34382"/>
                </a:lnTo>
                <a:lnTo>
                  <a:pt x="33411" y="34468"/>
                </a:lnTo>
                <a:lnTo>
                  <a:pt x="33697" y="34525"/>
                </a:lnTo>
                <a:lnTo>
                  <a:pt x="34011" y="34554"/>
                </a:lnTo>
                <a:lnTo>
                  <a:pt x="34297" y="34582"/>
                </a:lnTo>
                <a:lnTo>
                  <a:pt x="34926" y="34582"/>
                </a:lnTo>
                <a:lnTo>
                  <a:pt x="34726" y="34811"/>
                </a:lnTo>
                <a:lnTo>
                  <a:pt x="34554" y="35125"/>
                </a:lnTo>
                <a:lnTo>
                  <a:pt x="34097" y="35954"/>
                </a:lnTo>
                <a:lnTo>
                  <a:pt x="33611" y="36983"/>
                </a:lnTo>
                <a:lnTo>
                  <a:pt x="33096" y="38212"/>
                </a:lnTo>
                <a:lnTo>
                  <a:pt x="25523" y="37240"/>
                </a:lnTo>
                <a:lnTo>
                  <a:pt x="25037" y="37240"/>
                </a:lnTo>
                <a:lnTo>
                  <a:pt x="24665" y="37326"/>
                </a:lnTo>
                <a:lnTo>
                  <a:pt x="24465" y="37383"/>
                </a:lnTo>
                <a:lnTo>
                  <a:pt x="24265" y="37469"/>
                </a:lnTo>
                <a:lnTo>
                  <a:pt x="24036" y="37583"/>
                </a:lnTo>
                <a:lnTo>
                  <a:pt x="23779" y="37726"/>
                </a:lnTo>
                <a:lnTo>
                  <a:pt x="23522" y="37898"/>
                </a:lnTo>
                <a:lnTo>
                  <a:pt x="23265" y="38098"/>
                </a:lnTo>
                <a:lnTo>
                  <a:pt x="23007" y="38355"/>
                </a:lnTo>
                <a:lnTo>
                  <a:pt x="22722" y="38641"/>
                </a:lnTo>
                <a:lnTo>
                  <a:pt x="20464" y="41327"/>
                </a:lnTo>
                <a:lnTo>
                  <a:pt x="16920" y="45614"/>
                </a:lnTo>
                <a:lnTo>
                  <a:pt x="12175" y="51302"/>
                </a:lnTo>
                <a:lnTo>
                  <a:pt x="11918" y="51873"/>
                </a:lnTo>
                <a:lnTo>
                  <a:pt x="11204" y="53417"/>
                </a:lnTo>
                <a:lnTo>
                  <a:pt x="10689" y="54474"/>
                </a:lnTo>
                <a:lnTo>
                  <a:pt x="10060" y="55703"/>
                </a:lnTo>
                <a:lnTo>
                  <a:pt x="9346" y="57018"/>
                </a:lnTo>
                <a:lnTo>
                  <a:pt x="8574" y="58418"/>
                </a:lnTo>
                <a:lnTo>
                  <a:pt x="7688" y="59876"/>
                </a:lnTo>
                <a:lnTo>
                  <a:pt x="6745" y="61362"/>
                </a:lnTo>
                <a:lnTo>
                  <a:pt x="6259" y="62105"/>
                </a:lnTo>
                <a:lnTo>
                  <a:pt x="5745" y="62820"/>
                </a:lnTo>
                <a:lnTo>
                  <a:pt x="5230" y="63534"/>
                </a:lnTo>
                <a:lnTo>
                  <a:pt x="4687" y="64220"/>
                </a:lnTo>
                <a:lnTo>
                  <a:pt x="4144" y="64906"/>
                </a:lnTo>
                <a:lnTo>
                  <a:pt x="3573" y="65563"/>
                </a:lnTo>
                <a:lnTo>
                  <a:pt x="3001" y="66192"/>
                </a:lnTo>
                <a:lnTo>
                  <a:pt x="2429" y="66792"/>
                </a:lnTo>
                <a:lnTo>
                  <a:pt x="1829" y="67364"/>
                </a:lnTo>
                <a:lnTo>
                  <a:pt x="1229" y="67878"/>
                </a:lnTo>
                <a:lnTo>
                  <a:pt x="629" y="68364"/>
                </a:lnTo>
                <a:lnTo>
                  <a:pt x="0" y="68793"/>
                </a:lnTo>
                <a:lnTo>
                  <a:pt x="57" y="68793"/>
                </a:lnTo>
                <a:lnTo>
                  <a:pt x="171" y="68764"/>
                </a:lnTo>
                <a:lnTo>
                  <a:pt x="486" y="68593"/>
                </a:lnTo>
                <a:lnTo>
                  <a:pt x="943" y="68250"/>
                </a:lnTo>
                <a:lnTo>
                  <a:pt x="1543" y="67793"/>
                </a:lnTo>
                <a:lnTo>
                  <a:pt x="2229" y="67193"/>
                </a:lnTo>
                <a:lnTo>
                  <a:pt x="3030" y="66421"/>
                </a:lnTo>
                <a:lnTo>
                  <a:pt x="3916" y="65535"/>
                </a:lnTo>
                <a:lnTo>
                  <a:pt x="4830" y="64506"/>
                </a:lnTo>
                <a:lnTo>
                  <a:pt x="5830" y="63363"/>
                </a:lnTo>
                <a:lnTo>
                  <a:pt x="6831" y="62077"/>
                </a:lnTo>
                <a:lnTo>
                  <a:pt x="7345" y="61362"/>
                </a:lnTo>
                <a:lnTo>
                  <a:pt x="7831" y="60648"/>
                </a:lnTo>
                <a:lnTo>
                  <a:pt x="8346" y="59905"/>
                </a:lnTo>
                <a:lnTo>
                  <a:pt x="8860" y="59133"/>
                </a:lnTo>
                <a:lnTo>
                  <a:pt x="9346" y="58304"/>
                </a:lnTo>
                <a:lnTo>
                  <a:pt x="9860" y="57475"/>
                </a:lnTo>
                <a:lnTo>
                  <a:pt x="10318" y="56589"/>
                </a:lnTo>
                <a:lnTo>
                  <a:pt x="10804" y="55703"/>
                </a:lnTo>
                <a:lnTo>
                  <a:pt x="11261" y="54760"/>
                </a:lnTo>
                <a:lnTo>
                  <a:pt x="11690" y="53817"/>
                </a:lnTo>
                <a:lnTo>
                  <a:pt x="12118" y="52845"/>
                </a:lnTo>
                <a:lnTo>
                  <a:pt x="12547" y="51816"/>
                </a:lnTo>
                <a:lnTo>
                  <a:pt x="13319" y="50930"/>
                </a:lnTo>
                <a:lnTo>
                  <a:pt x="14690" y="49273"/>
                </a:lnTo>
                <a:lnTo>
                  <a:pt x="18520" y="44757"/>
                </a:lnTo>
                <a:lnTo>
                  <a:pt x="20550" y="42413"/>
                </a:lnTo>
                <a:lnTo>
                  <a:pt x="22350" y="40384"/>
                </a:lnTo>
                <a:lnTo>
                  <a:pt x="23093" y="39555"/>
                </a:lnTo>
                <a:lnTo>
                  <a:pt x="23722" y="38926"/>
                </a:lnTo>
                <a:lnTo>
                  <a:pt x="24208" y="38498"/>
                </a:lnTo>
                <a:lnTo>
                  <a:pt x="24351" y="38355"/>
                </a:lnTo>
                <a:lnTo>
                  <a:pt x="24494" y="38298"/>
                </a:lnTo>
                <a:lnTo>
                  <a:pt x="24637" y="38269"/>
                </a:lnTo>
                <a:lnTo>
                  <a:pt x="25494" y="38269"/>
                </a:lnTo>
                <a:lnTo>
                  <a:pt x="26380" y="38298"/>
                </a:lnTo>
                <a:lnTo>
                  <a:pt x="27437" y="38383"/>
                </a:lnTo>
                <a:lnTo>
                  <a:pt x="29981" y="38584"/>
                </a:lnTo>
                <a:lnTo>
                  <a:pt x="32811" y="38869"/>
                </a:lnTo>
                <a:lnTo>
                  <a:pt x="31982" y="40984"/>
                </a:lnTo>
                <a:lnTo>
                  <a:pt x="31124" y="43185"/>
                </a:lnTo>
                <a:lnTo>
                  <a:pt x="30296" y="45443"/>
                </a:lnTo>
                <a:lnTo>
                  <a:pt x="29552" y="47529"/>
                </a:lnTo>
                <a:lnTo>
                  <a:pt x="28381" y="50902"/>
                </a:lnTo>
                <a:lnTo>
                  <a:pt x="27923" y="52216"/>
                </a:lnTo>
                <a:lnTo>
                  <a:pt x="27266" y="52559"/>
                </a:lnTo>
                <a:lnTo>
                  <a:pt x="25494" y="53502"/>
                </a:lnTo>
                <a:lnTo>
                  <a:pt x="24265" y="54188"/>
                </a:lnTo>
                <a:lnTo>
                  <a:pt x="22865" y="54989"/>
                </a:lnTo>
                <a:lnTo>
                  <a:pt x="21293" y="55903"/>
                </a:lnTo>
                <a:lnTo>
                  <a:pt x="19635" y="56932"/>
                </a:lnTo>
                <a:lnTo>
                  <a:pt x="17863" y="58018"/>
                </a:lnTo>
                <a:lnTo>
                  <a:pt x="16062" y="59219"/>
                </a:lnTo>
                <a:lnTo>
                  <a:pt x="14233" y="60448"/>
                </a:lnTo>
                <a:lnTo>
                  <a:pt x="12404" y="61762"/>
                </a:lnTo>
                <a:lnTo>
                  <a:pt x="11518" y="62448"/>
                </a:lnTo>
                <a:lnTo>
                  <a:pt x="10632" y="63134"/>
                </a:lnTo>
                <a:lnTo>
                  <a:pt x="9775" y="63820"/>
                </a:lnTo>
                <a:lnTo>
                  <a:pt x="8946" y="64535"/>
                </a:lnTo>
                <a:lnTo>
                  <a:pt x="8146" y="65220"/>
                </a:lnTo>
                <a:lnTo>
                  <a:pt x="7374" y="65935"/>
                </a:lnTo>
                <a:lnTo>
                  <a:pt x="6631" y="66678"/>
                </a:lnTo>
                <a:lnTo>
                  <a:pt x="5945" y="67393"/>
                </a:lnTo>
                <a:lnTo>
                  <a:pt x="5945" y="67450"/>
                </a:lnTo>
                <a:lnTo>
                  <a:pt x="5945" y="67478"/>
                </a:lnTo>
                <a:lnTo>
                  <a:pt x="6002" y="67507"/>
                </a:lnTo>
                <a:lnTo>
                  <a:pt x="6088" y="67507"/>
                </a:lnTo>
                <a:lnTo>
                  <a:pt x="6231" y="67421"/>
                </a:lnTo>
                <a:lnTo>
                  <a:pt x="6431" y="67307"/>
                </a:lnTo>
                <a:lnTo>
                  <a:pt x="6716" y="67078"/>
                </a:lnTo>
                <a:lnTo>
                  <a:pt x="7545" y="66392"/>
                </a:lnTo>
                <a:lnTo>
                  <a:pt x="9260" y="64992"/>
                </a:lnTo>
                <a:lnTo>
                  <a:pt x="11661" y="63048"/>
                </a:lnTo>
                <a:lnTo>
                  <a:pt x="13090" y="61962"/>
                </a:lnTo>
                <a:lnTo>
                  <a:pt x="14633" y="60819"/>
                </a:lnTo>
                <a:lnTo>
                  <a:pt x="16234" y="59647"/>
                </a:lnTo>
                <a:lnTo>
                  <a:pt x="17920" y="58475"/>
                </a:lnTo>
                <a:lnTo>
                  <a:pt x="19635" y="57332"/>
                </a:lnTo>
                <a:lnTo>
                  <a:pt x="21350" y="56218"/>
                </a:lnTo>
                <a:lnTo>
                  <a:pt x="22236" y="55703"/>
                </a:lnTo>
                <a:lnTo>
                  <a:pt x="23093" y="55217"/>
                </a:lnTo>
                <a:lnTo>
                  <a:pt x="23951" y="54731"/>
                </a:lnTo>
                <a:lnTo>
                  <a:pt x="24808" y="54303"/>
                </a:lnTo>
                <a:lnTo>
                  <a:pt x="25637" y="53874"/>
                </a:lnTo>
                <a:lnTo>
                  <a:pt x="26466" y="53502"/>
                </a:lnTo>
                <a:lnTo>
                  <a:pt x="27266" y="53160"/>
                </a:lnTo>
                <a:lnTo>
                  <a:pt x="28038" y="52874"/>
                </a:lnTo>
                <a:lnTo>
                  <a:pt x="28095" y="52902"/>
                </a:lnTo>
                <a:lnTo>
                  <a:pt x="28209" y="52902"/>
                </a:lnTo>
                <a:lnTo>
                  <a:pt x="28295" y="52817"/>
                </a:lnTo>
                <a:lnTo>
                  <a:pt x="28409" y="52674"/>
                </a:lnTo>
                <a:lnTo>
                  <a:pt x="28524" y="52445"/>
                </a:lnTo>
                <a:lnTo>
                  <a:pt x="28666" y="52131"/>
                </a:lnTo>
                <a:lnTo>
                  <a:pt x="30496" y="47186"/>
                </a:lnTo>
                <a:lnTo>
                  <a:pt x="32068" y="43071"/>
                </a:lnTo>
                <a:lnTo>
                  <a:pt x="32896" y="40984"/>
                </a:lnTo>
                <a:lnTo>
                  <a:pt x="33697" y="38955"/>
                </a:lnTo>
                <a:lnTo>
                  <a:pt x="37241" y="39384"/>
                </a:lnTo>
                <a:lnTo>
                  <a:pt x="38613" y="39555"/>
                </a:lnTo>
                <a:lnTo>
                  <a:pt x="39527" y="39698"/>
                </a:lnTo>
                <a:lnTo>
                  <a:pt x="39584" y="39698"/>
                </a:lnTo>
                <a:lnTo>
                  <a:pt x="39641" y="39670"/>
                </a:lnTo>
                <a:lnTo>
                  <a:pt x="39756" y="39555"/>
                </a:lnTo>
                <a:lnTo>
                  <a:pt x="39842" y="39384"/>
                </a:lnTo>
                <a:lnTo>
                  <a:pt x="39927" y="39155"/>
                </a:lnTo>
                <a:lnTo>
                  <a:pt x="40042" y="38869"/>
                </a:lnTo>
                <a:lnTo>
                  <a:pt x="40127" y="38526"/>
                </a:lnTo>
                <a:lnTo>
                  <a:pt x="40270" y="37755"/>
                </a:lnTo>
                <a:lnTo>
                  <a:pt x="40385" y="36869"/>
                </a:lnTo>
                <a:lnTo>
                  <a:pt x="40499" y="35897"/>
                </a:lnTo>
                <a:lnTo>
                  <a:pt x="40585" y="34925"/>
                </a:lnTo>
                <a:lnTo>
                  <a:pt x="40670" y="33954"/>
                </a:lnTo>
                <a:lnTo>
                  <a:pt x="41356" y="35268"/>
                </a:lnTo>
                <a:lnTo>
                  <a:pt x="42299" y="37155"/>
                </a:lnTo>
                <a:lnTo>
                  <a:pt x="43471" y="39441"/>
                </a:lnTo>
                <a:lnTo>
                  <a:pt x="44157" y="40670"/>
                </a:lnTo>
                <a:lnTo>
                  <a:pt x="44872" y="41956"/>
                </a:lnTo>
                <a:lnTo>
                  <a:pt x="45643" y="43271"/>
                </a:lnTo>
                <a:lnTo>
                  <a:pt x="46444" y="44585"/>
                </a:lnTo>
                <a:lnTo>
                  <a:pt x="47273" y="45872"/>
                </a:lnTo>
                <a:lnTo>
                  <a:pt x="48130" y="47158"/>
                </a:lnTo>
                <a:lnTo>
                  <a:pt x="49045" y="48358"/>
                </a:lnTo>
                <a:lnTo>
                  <a:pt x="49502" y="48930"/>
                </a:lnTo>
                <a:lnTo>
                  <a:pt x="49959" y="49501"/>
                </a:lnTo>
                <a:lnTo>
                  <a:pt x="50445" y="50044"/>
                </a:lnTo>
                <a:lnTo>
                  <a:pt x="50902" y="50530"/>
                </a:lnTo>
                <a:lnTo>
                  <a:pt x="51388" y="51016"/>
                </a:lnTo>
                <a:lnTo>
                  <a:pt x="51874" y="51473"/>
                </a:lnTo>
                <a:lnTo>
                  <a:pt x="52246" y="51759"/>
                </a:lnTo>
                <a:lnTo>
                  <a:pt x="52674" y="52073"/>
                </a:lnTo>
                <a:lnTo>
                  <a:pt x="53132" y="52388"/>
                </a:lnTo>
                <a:lnTo>
                  <a:pt x="53617" y="52674"/>
                </a:lnTo>
                <a:lnTo>
                  <a:pt x="53846" y="52759"/>
                </a:lnTo>
                <a:lnTo>
                  <a:pt x="54046" y="52845"/>
                </a:lnTo>
                <a:lnTo>
                  <a:pt x="54246" y="52902"/>
                </a:lnTo>
                <a:lnTo>
                  <a:pt x="54418" y="52931"/>
                </a:lnTo>
                <a:lnTo>
                  <a:pt x="54561" y="52902"/>
                </a:lnTo>
                <a:lnTo>
                  <a:pt x="54675" y="52845"/>
                </a:lnTo>
                <a:lnTo>
                  <a:pt x="54761" y="52731"/>
                </a:lnTo>
                <a:lnTo>
                  <a:pt x="54789" y="52588"/>
                </a:lnTo>
                <a:lnTo>
                  <a:pt x="54789" y="52073"/>
                </a:lnTo>
                <a:lnTo>
                  <a:pt x="54675" y="51302"/>
                </a:lnTo>
                <a:lnTo>
                  <a:pt x="54589" y="50845"/>
                </a:lnTo>
                <a:lnTo>
                  <a:pt x="54503" y="50359"/>
                </a:lnTo>
                <a:lnTo>
                  <a:pt x="54361" y="49816"/>
                </a:lnTo>
                <a:lnTo>
                  <a:pt x="54189" y="49244"/>
                </a:lnTo>
                <a:lnTo>
                  <a:pt x="53989" y="48672"/>
                </a:lnTo>
                <a:lnTo>
                  <a:pt x="53760" y="48044"/>
                </a:lnTo>
                <a:lnTo>
                  <a:pt x="53503" y="47415"/>
                </a:lnTo>
                <a:lnTo>
                  <a:pt x="53189" y="46786"/>
                </a:lnTo>
                <a:lnTo>
                  <a:pt x="52846" y="46157"/>
                </a:lnTo>
                <a:lnTo>
                  <a:pt x="52474" y="45529"/>
                </a:lnTo>
                <a:lnTo>
                  <a:pt x="52045" y="44900"/>
                </a:lnTo>
                <a:lnTo>
                  <a:pt x="51588" y="44300"/>
                </a:lnTo>
                <a:lnTo>
                  <a:pt x="51445" y="43785"/>
                </a:lnTo>
                <a:lnTo>
                  <a:pt x="51302" y="43299"/>
                </a:lnTo>
                <a:lnTo>
                  <a:pt x="51159" y="42842"/>
                </a:lnTo>
                <a:lnTo>
                  <a:pt x="50959" y="42413"/>
                </a:lnTo>
                <a:lnTo>
                  <a:pt x="50759" y="42042"/>
                </a:lnTo>
                <a:lnTo>
                  <a:pt x="50645" y="41870"/>
                </a:lnTo>
                <a:lnTo>
                  <a:pt x="50502" y="41699"/>
                </a:lnTo>
                <a:lnTo>
                  <a:pt x="50359" y="41556"/>
                </a:lnTo>
                <a:lnTo>
                  <a:pt x="50188" y="41413"/>
                </a:lnTo>
                <a:lnTo>
                  <a:pt x="50016" y="41299"/>
                </a:lnTo>
                <a:lnTo>
                  <a:pt x="49845" y="41213"/>
                </a:lnTo>
                <a:lnTo>
                  <a:pt x="49730" y="40813"/>
                </a:lnTo>
                <a:lnTo>
                  <a:pt x="49645" y="40413"/>
                </a:lnTo>
                <a:lnTo>
                  <a:pt x="49530" y="40041"/>
                </a:lnTo>
                <a:lnTo>
                  <a:pt x="49473" y="39870"/>
                </a:lnTo>
                <a:lnTo>
                  <a:pt x="49387" y="39670"/>
                </a:lnTo>
                <a:lnTo>
                  <a:pt x="49302" y="39527"/>
                </a:lnTo>
                <a:lnTo>
                  <a:pt x="49187" y="39355"/>
                </a:lnTo>
                <a:lnTo>
                  <a:pt x="49045" y="39212"/>
                </a:lnTo>
                <a:lnTo>
                  <a:pt x="48844" y="39098"/>
                </a:lnTo>
                <a:lnTo>
                  <a:pt x="48644" y="39012"/>
                </a:lnTo>
                <a:lnTo>
                  <a:pt x="48387" y="38926"/>
                </a:lnTo>
                <a:lnTo>
                  <a:pt x="48073" y="38869"/>
                </a:lnTo>
                <a:lnTo>
                  <a:pt x="47730" y="38841"/>
                </a:lnTo>
                <a:lnTo>
                  <a:pt x="47473" y="37955"/>
                </a:lnTo>
                <a:lnTo>
                  <a:pt x="47301" y="37469"/>
                </a:lnTo>
                <a:lnTo>
                  <a:pt x="47101" y="36983"/>
                </a:lnTo>
                <a:lnTo>
                  <a:pt x="46987" y="36726"/>
                </a:lnTo>
                <a:lnTo>
                  <a:pt x="46844" y="36469"/>
                </a:lnTo>
                <a:lnTo>
                  <a:pt x="46672" y="36240"/>
                </a:lnTo>
                <a:lnTo>
                  <a:pt x="46472" y="36011"/>
                </a:lnTo>
                <a:lnTo>
                  <a:pt x="46272" y="35783"/>
                </a:lnTo>
                <a:lnTo>
                  <a:pt x="46044" y="35583"/>
                </a:lnTo>
                <a:lnTo>
                  <a:pt x="45758" y="35383"/>
                </a:lnTo>
                <a:lnTo>
                  <a:pt x="45472" y="35211"/>
                </a:lnTo>
                <a:lnTo>
                  <a:pt x="45386" y="35040"/>
                </a:lnTo>
                <a:lnTo>
                  <a:pt x="45300" y="34868"/>
                </a:lnTo>
                <a:lnTo>
                  <a:pt x="45243" y="34525"/>
                </a:lnTo>
                <a:lnTo>
                  <a:pt x="45186" y="34182"/>
                </a:lnTo>
                <a:lnTo>
                  <a:pt x="45186" y="33839"/>
                </a:lnTo>
                <a:lnTo>
                  <a:pt x="45129" y="33525"/>
                </a:lnTo>
                <a:lnTo>
                  <a:pt x="45072" y="33210"/>
                </a:lnTo>
                <a:lnTo>
                  <a:pt x="45015" y="33068"/>
                </a:lnTo>
                <a:lnTo>
                  <a:pt x="44929" y="32925"/>
                </a:lnTo>
                <a:lnTo>
                  <a:pt x="44843" y="32782"/>
                </a:lnTo>
                <a:lnTo>
                  <a:pt x="44700" y="32639"/>
                </a:lnTo>
                <a:lnTo>
                  <a:pt x="45243" y="32439"/>
                </a:lnTo>
                <a:lnTo>
                  <a:pt x="45901" y="32239"/>
                </a:lnTo>
                <a:lnTo>
                  <a:pt x="46672" y="32010"/>
                </a:lnTo>
                <a:lnTo>
                  <a:pt x="47501" y="31753"/>
                </a:lnTo>
                <a:lnTo>
                  <a:pt x="49359" y="31296"/>
                </a:lnTo>
                <a:lnTo>
                  <a:pt x="51245" y="30867"/>
                </a:lnTo>
                <a:lnTo>
                  <a:pt x="54503" y="30152"/>
                </a:lnTo>
                <a:lnTo>
                  <a:pt x="55904" y="29838"/>
                </a:lnTo>
                <a:lnTo>
                  <a:pt x="55990" y="29809"/>
                </a:lnTo>
                <a:lnTo>
                  <a:pt x="56304" y="29809"/>
                </a:lnTo>
                <a:lnTo>
                  <a:pt x="56533" y="29867"/>
                </a:lnTo>
                <a:lnTo>
                  <a:pt x="56847" y="30009"/>
                </a:lnTo>
                <a:lnTo>
                  <a:pt x="57219" y="30209"/>
                </a:lnTo>
                <a:lnTo>
                  <a:pt x="57647" y="30495"/>
                </a:lnTo>
                <a:lnTo>
                  <a:pt x="60420" y="32553"/>
                </a:lnTo>
                <a:lnTo>
                  <a:pt x="62820" y="34325"/>
                </a:lnTo>
                <a:lnTo>
                  <a:pt x="65536" y="36326"/>
                </a:lnTo>
                <a:lnTo>
                  <a:pt x="68365" y="38326"/>
                </a:lnTo>
                <a:lnTo>
                  <a:pt x="69737" y="39269"/>
                </a:lnTo>
                <a:lnTo>
                  <a:pt x="71052" y="40155"/>
                </a:lnTo>
                <a:lnTo>
                  <a:pt x="72252" y="40956"/>
                </a:lnTo>
                <a:lnTo>
                  <a:pt x="73338" y="41613"/>
                </a:lnTo>
                <a:lnTo>
                  <a:pt x="74281" y="42156"/>
                </a:lnTo>
                <a:lnTo>
                  <a:pt x="74681" y="42356"/>
                </a:lnTo>
                <a:lnTo>
                  <a:pt x="75024" y="42499"/>
                </a:lnTo>
                <a:lnTo>
                  <a:pt x="75767" y="42785"/>
                </a:lnTo>
                <a:lnTo>
                  <a:pt x="76768" y="43156"/>
                </a:lnTo>
                <a:lnTo>
                  <a:pt x="77940" y="43528"/>
                </a:lnTo>
                <a:lnTo>
                  <a:pt x="79340" y="43957"/>
                </a:lnTo>
                <a:lnTo>
                  <a:pt x="80912" y="44385"/>
                </a:lnTo>
                <a:lnTo>
                  <a:pt x="82627" y="44814"/>
                </a:lnTo>
                <a:lnTo>
                  <a:pt x="84513" y="45186"/>
                </a:lnTo>
                <a:lnTo>
                  <a:pt x="85485" y="45386"/>
                </a:lnTo>
                <a:lnTo>
                  <a:pt x="86485" y="45557"/>
                </a:lnTo>
                <a:lnTo>
                  <a:pt x="87543" y="45700"/>
                </a:lnTo>
                <a:lnTo>
                  <a:pt x="88600" y="45843"/>
                </a:lnTo>
                <a:lnTo>
                  <a:pt x="89686" y="45986"/>
                </a:lnTo>
                <a:lnTo>
                  <a:pt x="90772" y="46072"/>
                </a:lnTo>
                <a:lnTo>
                  <a:pt x="91916" y="46157"/>
                </a:lnTo>
                <a:lnTo>
                  <a:pt x="93059" y="46214"/>
                </a:lnTo>
                <a:lnTo>
                  <a:pt x="94202" y="46243"/>
                </a:lnTo>
                <a:lnTo>
                  <a:pt x="95374" y="46272"/>
                </a:lnTo>
                <a:lnTo>
                  <a:pt x="96517" y="46243"/>
                </a:lnTo>
                <a:lnTo>
                  <a:pt x="97717" y="46186"/>
                </a:lnTo>
                <a:lnTo>
                  <a:pt x="98889" y="46100"/>
                </a:lnTo>
                <a:lnTo>
                  <a:pt x="100090" y="45957"/>
                </a:lnTo>
                <a:lnTo>
                  <a:pt x="101261" y="45786"/>
                </a:lnTo>
                <a:lnTo>
                  <a:pt x="102462" y="45586"/>
                </a:lnTo>
                <a:lnTo>
                  <a:pt x="103634" y="45357"/>
                </a:lnTo>
                <a:lnTo>
                  <a:pt x="104805" y="45071"/>
                </a:lnTo>
                <a:lnTo>
                  <a:pt x="104948" y="44957"/>
                </a:lnTo>
                <a:lnTo>
                  <a:pt x="105006" y="44843"/>
                </a:lnTo>
                <a:lnTo>
                  <a:pt x="105006" y="44814"/>
                </a:lnTo>
                <a:lnTo>
                  <a:pt x="104977" y="44785"/>
                </a:lnTo>
                <a:lnTo>
                  <a:pt x="104863" y="44728"/>
                </a:lnTo>
                <a:lnTo>
                  <a:pt x="104491" y="44728"/>
                </a:lnTo>
                <a:lnTo>
                  <a:pt x="103919" y="44785"/>
                </a:lnTo>
                <a:lnTo>
                  <a:pt x="103205" y="44928"/>
                </a:lnTo>
                <a:lnTo>
                  <a:pt x="102519" y="45100"/>
                </a:lnTo>
                <a:lnTo>
                  <a:pt x="101633" y="45271"/>
                </a:lnTo>
                <a:lnTo>
                  <a:pt x="100518" y="45443"/>
                </a:lnTo>
                <a:lnTo>
                  <a:pt x="99232" y="45586"/>
                </a:lnTo>
                <a:lnTo>
                  <a:pt x="97717" y="45700"/>
                </a:lnTo>
                <a:lnTo>
                  <a:pt x="96889" y="45729"/>
                </a:lnTo>
                <a:lnTo>
                  <a:pt x="96031" y="45757"/>
                </a:lnTo>
                <a:lnTo>
                  <a:pt x="95088" y="45757"/>
                </a:lnTo>
                <a:lnTo>
                  <a:pt x="94116" y="45729"/>
                </a:lnTo>
                <a:lnTo>
                  <a:pt x="93087" y="45700"/>
                </a:lnTo>
                <a:lnTo>
                  <a:pt x="92001" y="45643"/>
                </a:lnTo>
                <a:lnTo>
                  <a:pt x="90887" y="45529"/>
                </a:lnTo>
                <a:lnTo>
                  <a:pt x="89715" y="45414"/>
                </a:lnTo>
                <a:lnTo>
                  <a:pt x="88486" y="45243"/>
                </a:lnTo>
                <a:lnTo>
                  <a:pt x="87200" y="45071"/>
                </a:lnTo>
                <a:lnTo>
                  <a:pt x="85885" y="44814"/>
                </a:lnTo>
                <a:lnTo>
                  <a:pt x="84513" y="44557"/>
                </a:lnTo>
                <a:lnTo>
                  <a:pt x="83113" y="44242"/>
                </a:lnTo>
                <a:lnTo>
                  <a:pt x="81627" y="43899"/>
                </a:lnTo>
                <a:lnTo>
                  <a:pt x="80140" y="43499"/>
                </a:lnTo>
                <a:lnTo>
                  <a:pt x="78568" y="43042"/>
                </a:lnTo>
                <a:lnTo>
                  <a:pt x="76968" y="42528"/>
                </a:lnTo>
                <a:lnTo>
                  <a:pt x="75310" y="41985"/>
                </a:lnTo>
                <a:lnTo>
                  <a:pt x="74310" y="41356"/>
                </a:lnTo>
                <a:lnTo>
                  <a:pt x="73195" y="40613"/>
                </a:lnTo>
                <a:lnTo>
                  <a:pt x="70680" y="38898"/>
                </a:lnTo>
                <a:lnTo>
                  <a:pt x="67965" y="37012"/>
                </a:lnTo>
                <a:lnTo>
                  <a:pt x="65250" y="35068"/>
                </a:lnTo>
                <a:lnTo>
                  <a:pt x="60534" y="31638"/>
                </a:lnTo>
                <a:lnTo>
                  <a:pt x="58105" y="29838"/>
                </a:lnTo>
                <a:lnTo>
                  <a:pt x="57790" y="29581"/>
                </a:lnTo>
                <a:lnTo>
                  <a:pt x="57504" y="29295"/>
                </a:lnTo>
                <a:lnTo>
                  <a:pt x="57362" y="29181"/>
                </a:lnTo>
                <a:lnTo>
                  <a:pt x="57219" y="29095"/>
                </a:lnTo>
                <a:lnTo>
                  <a:pt x="57047" y="29009"/>
                </a:lnTo>
                <a:lnTo>
                  <a:pt x="56876" y="28923"/>
                </a:lnTo>
                <a:lnTo>
                  <a:pt x="56647" y="28895"/>
                </a:lnTo>
                <a:lnTo>
                  <a:pt x="56361" y="28866"/>
                </a:lnTo>
                <a:lnTo>
                  <a:pt x="56018" y="28866"/>
                </a:lnTo>
                <a:lnTo>
                  <a:pt x="55647" y="28895"/>
                </a:lnTo>
                <a:lnTo>
                  <a:pt x="55161" y="28952"/>
                </a:lnTo>
                <a:lnTo>
                  <a:pt x="54618" y="29038"/>
                </a:lnTo>
                <a:lnTo>
                  <a:pt x="53246" y="29323"/>
                </a:lnTo>
                <a:lnTo>
                  <a:pt x="51617" y="29695"/>
                </a:lnTo>
                <a:lnTo>
                  <a:pt x="49931" y="30038"/>
                </a:lnTo>
                <a:lnTo>
                  <a:pt x="48273" y="30352"/>
                </a:lnTo>
                <a:lnTo>
                  <a:pt x="46729" y="30638"/>
                </a:lnTo>
                <a:lnTo>
                  <a:pt x="44329" y="31038"/>
                </a:lnTo>
                <a:lnTo>
                  <a:pt x="43357" y="31181"/>
                </a:lnTo>
                <a:lnTo>
                  <a:pt x="41671" y="29095"/>
                </a:lnTo>
                <a:lnTo>
                  <a:pt x="42700" y="28666"/>
                </a:lnTo>
                <a:lnTo>
                  <a:pt x="45215" y="27609"/>
                </a:lnTo>
                <a:lnTo>
                  <a:pt x="48473" y="26265"/>
                </a:lnTo>
                <a:lnTo>
                  <a:pt x="50131" y="25637"/>
                </a:lnTo>
                <a:lnTo>
                  <a:pt x="51703" y="25065"/>
                </a:lnTo>
                <a:lnTo>
                  <a:pt x="52674" y="25408"/>
                </a:lnTo>
                <a:lnTo>
                  <a:pt x="53503" y="25694"/>
                </a:lnTo>
                <a:lnTo>
                  <a:pt x="54103" y="25837"/>
                </a:lnTo>
                <a:lnTo>
                  <a:pt x="54332" y="25894"/>
                </a:lnTo>
                <a:lnTo>
                  <a:pt x="54503" y="25894"/>
                </a:lnTo>
                <a:lnTo>
                  <a:pt x="54618" y="25865"/>
                </a:lnTo>
                <a:lnTo>
                  <a:pt x="54789" y="25808"/>
                </a:lnTo>
                <a:lnTo>
                  <a:pt x="55189" y="25608"/>
                </a:lnTo>
                <a:lnTo>
                  <a:pt x="55675" y="25322"/>
                </a:lnTo>
                <a:lnTo>
                  <a:pt x="56247" y="24979"/>
                </a:lnTo>
                <a:lnTo>
                  <a:pt x="60820" y="27380"/>
                </a:lnTo>
                <a:lnTo>
                  <a:pt x="63735" y="28923"/>
                </a:lnTo>
                <a:lnTo>
                  <a:pt x="66822" y="30495"/>
                </a:lnTo>
                <a:lnTo>
                  <a:pt x="69851" y="31981"/>
                </a:lnTo>
                <a:lnTo>
                  <a:pt x="71280" y="32639"/>
                </a:lnTo>
                <a:lnTo>
                  <a:pt x="72595" y="33239"/>
                </a:lnTo>
                <a:lnTo>
                  <a:pt x="73795" y="33753"/>
                </a:lnTo>
                <a:lnTo>
                  <a:pt x="74824" y="34154"/>
                </a:lnTo>
                <a:lnTo>
                  <a:pt x="75682" y="34439"/>
                </a:lnTo>
                <a:lnTo>
                  <a:pt x="76053" y="34525"/>
                </a:lnTo>
                <a:lnTo>
                  <a:pt x="76368" y="34582"/>
                </a:lnTo>
                <a:lnTo>
                  <a:pt x="78311" y="34782"/>
                </a:lnTo>
                <a:lnTo>
                  <a:pt x="79712" y="34925"/>
                </a:lnTo>
                <a:lnTo>
                  <a:pt x="81341" y="35068"/>
                </a:lnTo>
                <a:lnTo>
                  <a:pt x="83170" y="35182"/>
                </a:lnTo>
                <a:lnTo>
                  <a:pt x="85171" y="35268"/>
                </a:lnTo>
                <a:lnTo>
                  <a:pt x="87257" y="35325"/>
                </a:lnTo>
                <a:lnTo>
                  <a:pt x="89429" y="35325"/>
                </a:lnTo>
                <a:lnTo>
                  <a:pt x="90544" y="35297"/>
                </a:lnTo>
                <a:lnTo>
                  <a:pt x="91658" y="35268"/>
                </a:lnTo>
                <a:lnTo>
                  <a:pt x="92744" y="35211"/>
                </a:lnTo>
                <a:lnTo>
                  <a:pt x="93859" y="35125"/>
                </a:lnTo>
                <a:lnTo>
                  <a:pt x="94945" y="35011"/>
                </a:lnTo>
                <a:lnTo>
                  <a:pt x="96003" y="34897"/>
                </a:lnTo>
                <a:lnTo>
                  <a:pt x="97060" y="34754"/>
                </a:lnTo>
                <a:lnTo>
                  <a:pt x="98089" y="34554"/>
                </a:lnTo>
                <a:lnTo>
                  <a:pt x="99089" y="34354"/>
                </a:lnTo>
                <a:lnTo>
                  <a:pt x="100033" y="34096"/>
                </a:lnTo>
                <a:lnTo>
                  <a:pt x="100947" y="33811"/>
                </a:lnTo>
                <a:lnTo>
                  <a:pt x="101833" y="33525"/>
                </a:lnTo>
                <a:lnTo>
                  <a:pt x="102633" y="33153"/>
                </a:lnTo>
                <a:lnTo>
                  <a:pt x="103405" y="32782"/>
                </a:lnTo>
                <a:lnTo>
                  <a:pt x="104091" y="32353"/>
                </a:lnTo>
                <a:lnTo>
                  <a:pt x="104434" y="32124"/>
                </a:lnTo>
                <a:lnTo>
                  <a:pt x="104748" y="31896"/>
                </a:lnTo>
                <a:lnTo>
                  <a:pt x="104777" y="31781"/>
                </a:lnTo>
                <a:lnTo>
                  <a:pt x="104777" y="31724"/>
                </a:lnTo>
                <a:lnTo>
                  <a:pt x="104748" y="31696"/>
                </a:lnTo>
                <a:lnTo>
                  <a:pt x="104634" y="31696"/>
                </a:lnTo>
                <a:lnTo>
                  <a:pt x="104434" y="31753"/>
                </a:lnTo>
                <a:lnTo>
                  <a:pt x="104177" y="31839"/>
                </a:lnTo>
                <a:lnTo>
                  <a:pt x="103862" y="31953"/>
                </a:lnTo>
                <a:lnTo>
                  <a:pt x="103119" y="32296"/>
                </a:lnTo>
                <a:lnTo>
                  <a:pt x="102833" y="32410"/>
                </a:lnTo>
                <a:lnTo>
                  <a:pt x="102405" y="32610"/>
                </a:lnTo>
                <a:lnTo>
                  <a:pt x="101805" y="32810"/>
                </a:lnTo>
                <a:lnTo>
                  <a:pt x="101061" y="33068"/>
                </a:lnTo>
                <a:lnTo>
                  <a:pt x="100118" y="33325"/>
                </a:lnTo>
                <a:lnTo>
                  <a:pt x="99004" y="33582"/>
                </a:lnTo>
                <a:lnTo>
                  <a:pt x="97717" y="33839"/>
                </a:lnTo>
                <a:lnTo>
                  <a:pt x="96231" y="34068"/>
                </a:lnTo>
                <a:lnTo>
                  <a:pt x="94545" y="34268"/>
                </a:lnTo>
                <a:lnTo>
                  <a:pt x="92630" y="34439"/>
                </a:lnTo>
                <a:lnTo>
                  <a:pt x="91601" y="34525"/>
                </a:lnTo>
                <a:lnTo>
                  <a:pt x="90515" y="34582"/>
                </a:lnTo>
                <a:lnTo>
                  <a:pt x="89372" y="34611"/>
                </a:lnTo>
                <a:lnTo>
                  <a:pt x="88172" y="34639"/>
                </a:lnTo>
                <a:lnTo>
                  <a:pt x="86914" y="34639"/>
                </a:lnTo>
                <a:lnTo>
                  <a:pt x="85599" y="34611"/>
                </a:lnTo>
                <a:lnTo>
                  <a:pt x="84227" y="34582"/>
                </a:lnTo>
                <a:lnTo>
                  <a:pt x="82798" y="34525"/>
                </a:lnTo>
                <a:lnTo>
                  <a:pt x="81284" y="34439"/>
                </a:lnTo>
                <a:lnTo>
                  <a:pt x="79712" y="34325"/>
                </a:lnTo>
                <a:lnTo>
                  <a:pt x="78111" y="34211"/>
                </a:lnTo>
                <a:lnTo>
                  <a:pt x="76425" y="34039"/>
                </a:lnTo>
                <a:lnTo>
                  <a:pt x="75653" y="33725"/>
                </a:lnTo>
                <a:lnTo>
                  <a:pt x="74767" y="33325"/>
                </a:lnTo>
                <a:lnTo>
                  <a:pt x="72566" y="32239"/>
                </a:lnTo>
                <a:lnTo>
                  <a:pt x="69966" y="30953"/>
                </a:lnTo>
                <a:lnTo>
                  <a:pt x="67165" y="29495"/>
                </a:lnTo>
                <a:lnTo>
                  <a:pt x="61620" y="26551"/>
                </a:lnTo>
                <a:lnTo>
                  <a:pt x="59191" y="25265"/>
                </a:lnTo>
                <a:lnTo>
                  <a:pt x="57247" y="24265"/>
                </a:lnTo>
                <a:lnTo>
                  <a:pt x="58190" y="23579"/>
                </a:lnTo>
                <a:lnTo>
                  <a:pt x="59162" y="22864"/>
                </a:lnTo>
                <a:lnTo>
                  <a:pt x="60963" y="21492"/>
                </a:lnTo>
                <a:lnTo>
                  <a:pt x="62849" y="20006"/>
                </a:lnTo>
                <a:lnTo>
                  <a:pt x="62878" y="19892"/>
                </a:lnTo>
                <a:lnTo>
                  <a:pt x="62878" y="19806"/>
                </a:lnTo>
                <a:lnTo>
                  <a:pt x="62849" y="19720"/>
                </a:lnTo>
                <a:lnTo>
                  <a:pt x="62820" y="19692"/>
                </a:lnTo>
                <a:lnTo>
                  <a:pt x="62620" y="19692"/>
                </a:lnTo>
                <a:lnTo>
                  <a:pt x="62363" y="19835"/>
                </a:lnTo>
                <a:lnTo>
                  <a:pt x="61963" y="20063"/>
                </a:lnTo>
                <a:lnTo>
                  <a:pt x="56418" y="23865"/>
                </a:lnTo>
                <a:lnTo>
                  <a:pt x="55790" y="23550"/>
                </a:lnTo>
                <a:lnTo>
                  <a:pt x="55589" y="23465"/>
                </a:lnTo>
                <a:lnTo>
                  <a:pt x="55475" y="23436"/>
                </a:lnTo>
                <a:lnTo>
                  <a:pt x="55275" y="23436"/>
                </a:lnTo>
                <a:lnTo>
                  <a:pt x="54989" y="23465"/>
                </a:lnTo>
                <a:lnTo>
                  <a:pt x="54160" y="23579"/>
                </a:lnTo>
                <a:lnTo>
                  <a:pt x="53017" y="23807"/>
                </a:lnTo>
                <a:lnTo>
                  <a:pt x="51645" y="24122"/>
                </a:lnTo>
                <a:lnTo>
                  <a:pt x="48759" y="22864"/>
                </a:lnTo>
                <a:lnTo>
                  <a:pt x="49730" y="22493"/>
                </a:lnTo>
                <a:lnTo>
                  <a:pt x="50702" y="22121"/>
                </a:lnTo>
                <a:lnTo>
                  <a:pt x="51645" y="21693"/>
                </a:lnTo>
                <a:lnTo>
                  <a:pt x="52617" y="21235"/>
                </a:lnTo>
                <a:lnTo>
                  <a:pt x="53617" y="20721"/>
                </a:lnTo>
                <a:lnTo>
                  <a:pt x="54589" y="20149"/>
                </a:lnTo>
                <a:lnTo>
                  <a:pt x="55561" y="19520"/>
                </a:lnTo>
                <a:lnTo>
                  <a:pt x="56475" y="18863"/>
                </a:lnTo>
                <a:lnTo>
                  <a:pt x="57362" y="18149"/>
                </a:lnTo>
                <a:lnTo>
                  <a:pt x="58190" y="17405"/>
                </a:lnTo>
                <a:lnTo>
                  <a:pt x="58933" y="16662"/>
                </a:lnTo>
                <a:lnTo>
                  <a:pt x="59648" y="15919"/>
                </a:lnTo>
                <a:lnTo>
                  <a:pt x="60277" y="15176"/>
                </a:lnTo>
                <a:lnTo>
                  <a:pt x="60820" y="14405"/>
                </a:lnTo>
                <a:lnTo>
                  <a:pt x="61277" y="13690"/>
                </a:lnTo>
                <a:lnTo>
                  <a:pt x="61477" y="13318"/>
                </a:lnTo>
                <a:lnTo>
                  <a:pt x="61649" y="12976"/>
                </a:lnTo>
                <a:lnTo>
                  <a:pt x="61792" y="12633"/>
                </a:lnTo>
                <a:lnTo>
                  <a:pt x="61906" y="12318"/>
                </a:lnTo>
                <a:lnTo>
                  <a:pt x="62020" y="12004"/>
                </a:lnTo>
                <a:lnTo>
                  <a:pt x="62077" y="11689"/>
                </a:lnTo>
                <a:lnTo>
                  <a:pt x="62106" y="11404"/>
                </a:lnTo>
                <a:lnTo>
                  <a:pt x="62106" y="11118"/>
                </a:lnTo>
                <a:lnTo>
                  <a:pt x="62077" y="10832"/>
                </a:lnTo>
                <a:lnTo>
                  <a:pt x="62020" y="10603"/>
                </a:lnTo>
                <a:lnTo>
                  <a:pt x="61906" y="10318"/>
                </a:lnTo>
                <a:lnTo>
                  <a:pt x="61820" y="10175"/>
                </a:lnTo>
                <a:lnTo>
                  <a:pt x="61706" y="10032"/>
                </a:lnTo>
                <a:lnTo>
                  <a:pt x="61591" y="9917"/>
                </a:lnTo>
                <a:lnTo>
                  <a:pt x="61449" y="9774"/>
                </a:lnTo>
                <a:lnTo>
                  <a:pt x="61277" y="9689"/>
                </a:lnTo>
                <a:lnTo>
                  <a:pt x="61077" y="9574"/>
                </a:lnTo>
                <a:lnTo>
                  <a:pt x="60877" y="9489"/>
                </a:lnTo>
                <a:lnTo>
                  <a:pt x="60620" y="9432"/>
                </a:lnTo>
                <a:lnTo>
                  <a:pt x="60334" y="9374"/>
                </a:lnTo>
                <a:lnTo>
                  <a:pt x="60048" y="9346"/>
                </a:lnTo>
                <a:lnTo>
                  <a:pt x="59334" y="9346"/>
                </a:lnTo>
                <a:lnTo>
                  <a:pt x="58905" y="9403"/>
                </a:lnTo>
                <a:lnTo>
                  <a:pt x="58448" y="9460"/>
                </a:lnTo>
                <a:lnTo>
                  <a:pt x="57933" y="9574"/>
                </a:lnTo>
                <a:lnTo>
                  <a:pt x="57390" y="9717"/>
                </a:lnTo>
                <a:lnTo>
                  <a:pt x="56818" y="9917"/>
                </a:lnTo>
                <a:lnTo>
                  <a:pt x="56247" y="10146"/>
                </a:lnTo>
                <a:lnTo>
                  <a:pt x="55647" y="10403"/>
                </a:lnTo>
                <a:lnTo>
                  <a:pt x="55018" y="10689"/>
                </a:lnTo>
                <a:lnTo>
                  <a:pt x="54389" y="11032"/>
                </a:lnTo>
                <a:lnTo>
                  <a:pt x="53732" y="11404"/>
                </a:lnTo>
                <a:lnTo>
                  <a:pt x="52417" y="12204"/>
                </a:lnTo>
                <a:lnTo>
                  <a:pt x="51045" y="13090"/>
                </a:lnTo>
                <a:lnTo>
                  <a:pt x="49673" y="14033"/>
                </a:lnTo>
                <a:lnTo>
                  <a:pt x="48301" y="15062"/>
                </a:lnTo>
                <a:lnTo>
                  <a:pt x="48301" y="15062"/>
                </a:lnTo>
                <a:lnTo>
                  <a:pt x="48987" y="14204"/>
                </a:lnTo>
                <a:lnTo>
                  <a:pt x="49673" y="13290"/>
                </a:lnTo>
                <a:lnTo>
                  <a:pt x="50302" y="12347"/>
                </a:lnTo>
                <a:lnTo>
                  <a:pt x="50874" y="11346"/>
                </a:lnTo>
                <a:lnTo>
                  <a:pt x="51417" y="10346"/>
                </a:lnTo>
                <a:lnTo>
                  <a:pt x="51903" y="9317"/>
                </a:lnTo>
                <a:lnTo>
                  <a:pt x="52331" y="8317"/>
                </a:lnTo>
                <a:lnTo>
                  <a:pt x="52674" y="7288"/>
                </a:lnTo>
                <a:lnTo>
                  <a:pt x="52989" y="6316"/>
                </a:lnTo>
                <a:lnTo>
                  <a:pt x="53217" y="5373"/>
                </a:lnTo>
                <a:lnTo>
                  <a:pt x="53389" y="4459"/>
                </a:lnTo>
                <a:lnTo>
                  <a:pt x="53475" y="3601"/>
                </a:lnTo>
                <a:lnTo>
                  <a:pt x="53503" y="3172"/>
                </a:lnTo>
                <a:lnTo>
                  <a:pt x="53503" y="2801"/>
                </a:lnTo>
                <a:lnTo>
                  <a:pt x="53475" y="2429"/>
                </a:lnTo>
                <a:lnTo>
                  <a:pt x="53446" y="2086"/>
                </a:lnTo>
                <a:lnTo>
                  <a:pt x="53389" y="1743"/>
                </a:lnTo>
                <a:lnTo>
                  <a:pt x="53303" y="1458"/>
                </a:lnTo>
                <a:lnTo>
                  <a:pt x="53217" y="1172"/>
                </a:lnTo>
                <a:lnTo>
                  <a:pt x="53074" y="915"/>
                </a:lnTo>
                <a:lnTo>
                  <a:pt x="52931" y="686"/>
                </a:lnTo>
                <a:lnTo>
                  <a:pt x="52789" y="486"/>
                </a:lnTo>
                <a:lnTo>
                  <a:pt x="52560" y="286"/>
                </a:lnTo>
                <a:lnTo>
                  <a:pt x="52417" y="200"/>
                </a:lnTo>
                <a:lnTo>
                  <a:pt x="52246" y="114"/>
                </a:lnTo>
                <a:lnTo>
                  <a:pt x="52103" y="57"/>
                </a:lnTo>
                <a:lnTo>
                  <a:pt x="51903" y="29"/>
                </a:lnTo>
                <a:lnTo>
                  <a:pt x="51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58000">
              <a:srgbClr val="553F9D"/>
            </a:gs>
            <a:gs pos="92000">
              <a:srgbClr val="A05A80"/>
            </a:gs>
            <a:gs pos="100000">
              <a:schemeClr val="lt1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ortal.inmet.gov.br/noticias/balan%C3%A7o-de-junho-de-2025-em-s%C3%A3o-paulo-sp" TargetMode="External"/><Relationship Id="rId4" Type="http://schemas.openxmlformats.org/officeDocument/2006/relationships/hyperlink" Target="https://opendatasus.saude.gov.br/dataset/arboviroses-deng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"/>
          <p:cNvSpPr txBox="1"/>
          <p:nvPr>
            <p:ph type="ctrTitle"/>
          </p:nvPr>
        </p:nvSpPr>
        <p:spPr>
          <a:xfrm>
            <a:off x="-24809" y="9805"/>
            <a:ext cx="9193618" cy="22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Data project: Modeling &amp; Implementation</a:t>
            </a:r>
            <a:br>
              <a:rPr lang="en-US" sz="4800">
                <a:latin typeface="Arial"/>
                <a:ea typeface="Arial"/>
                <a:cs typeface="Arial"/>
                <a:sym typeface="Arial"/>
              </a:rPr>
            </a:br>
            <a:r>
              <a:rPr lang="en-US" sz="3000">
                <a:latin typeface="Arial"/>
                <a:ea typeface="Arial"/>
                <a:cs typeface="Arial"/>
                <a:sym typeface="Arial"/>
              </a:rPr>
              <a:t>Equipe 3 - Saúde Pública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>
            <p:ph idx="1" type="subTitle"/>
          </p:nvPr>
        </p:nvSpPr>
        <p:spPr>
          <a:xfrm>
            <a:off x="2029084" y="2402723"/>
            <a:ext cx="5074800" cy="40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Tema: Epidemia de Dengue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036719" y="2932947"/>
            <a:ext cx="3447900" cy="1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Alex Silva Nunes, RA 2302827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Angela Alves do Nascimento, RA 2302512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Filipe Vieira de Paula, RA 2302515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Giovanni Caravaggio Guedes Gomes, RA 2302877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Kaue Coutinho da Silva, RA 2302951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Kaue Simões Martins, RA 2302861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Luiz Víctor Felipe, RA 2303452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Rodrigo Pranger, RA 2302661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Ronaldo Augusto Barbosa, RA 2200547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Suemi Oliveira Tokuda, RA 2303008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Verônica de Assis Calsan, RA 2302574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Vinicius Alves Siqueira, RA 2100483 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81" name="Google Shape;181;p1"/>
          <p:cNvGrpSpPr/>
          <p:nvPr/>
        </p:nvGrpSpPr>
        <p:grpSpPr>
          <a:xfrm>
            <a:off x="2773865" y="3813539"/>
            <a:ext cx="350079" cy="350079"/>
            <a:chOff x="3497300" y="3227275"/>
            <a:chExt cx="296175" cy="296175"/>
          </a:xfrm>
        </p:grpSpPr>
        <p:sp>
          <p:nvSpPr>
            <p:cNvPr id="182" name="Google Shape;182;p1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"/>
          <p:cNvSpPr/>
          <p:nvPr/>
        </p:nvSpPr>
        <p:spPr>
          <a:xfrm>
            <a:off x="2090603" y="2485454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2090603" y="1620875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2090603" y="742439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 txBox="1"/>
          <p:nvPr>
            <p:ph type="title"/>
          </p:nvPr>
        </p:nvSpPr>
        <p:spPr>
          <a:xfrm>
            <a:off x="720000" y="11187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SUMÁRIO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 txBox="1"/>
          <p:nvPr>
            <p:ph idx="2" type="title"/>
          </p:nvPr>
        </p:nvSpPr>
        <p:spPr>
          <a:xfrm>
            <a:off x="2012903" y="898139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99" name="Google Shape;199;p2"/>
          <p:cNvSpPr txBox="1"/>
          <p:nvPr>
            <p:ph idx="4" type="title"/>
          </p:nvPr>
        </p:nvSpPr>
        <p:spPr>
          <a:xfrm>
            <a:off x="2012903" y="1776575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00" name="Google Shape;200;p2"/>
          <p:cNvSpPr txBox="1"/>
          <p:nvPr>
            <p:ph idx="6" type="title"/>
          </p:nvPr>
        </p:nvSpPr>
        <p:spPr>
          <a:xfrm>
            <a:off x="2012903" y="2641154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01" name="Google Shape;201;p2"/>
          <p:cNvSpPr txBox="1"/>
          <p:nvPr>
            <p:ph idx="1" type="subTitle"/>
          </p:nvPr>
        </p:nvSpPr>
        <p:spPr>
          <a:xfrm>
            <a:off x="2962744" y="805912"/>
            <a:ext cx="362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OBJETIVO DO PROJETO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 txBox="1"/>
          <p:nvPr>
            <p:ph idx="8" type="subTitle"/>
          </p:nvPr>
        </p:nvSpPr>
        <p:spPr>
          <a:xfrm>
            <a:off x="2927303" y="1642392"/>
            <a:ext cx="52902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 TRATAMENTO DOS DADOS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 txBox="1"/>
          <p:nvPr>
            <p:ph idx="9" type="subTitle"/>
          </p:nvPr>
        </p:nvSpPr>
        <p:spPr>
          <a:xfrm>
            <a:off x="2962744" y="2524677"/>
            <a:ext cx="51207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MODELAGEM DE DADOS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2090603" y="3350033"/>
            <a:ext cx="759000" cy="7590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"/>
          <p:cNvSpPr txBox="1"/>
          <p:nvPr>
            <p:ph idx="3" type="title"/>
          </p:nvPr>
        </p:nvSpPr>
        <p:spPr>
          <a:xfrm>
            <a:off x="2012903" y="3505733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206" name="Google Shape;206;p2"/>
          <p:cNvSpPr txBox="1"/>
          <p:nvPr>
            <p:ph idx="13" type="subTitle"/>
          </p:nvPr>
        </p:nvSpPr>
        <p:spPr>
          <a:xfrm>
            <a:off x="2962744" y="3350278"/>
            <a:ext cx="368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2090603" y="4214608"/>
            <a:ext cx="759000" cy="7590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>
            <p:ph idx="3" type="title"/>
          </p:nvPr>
        </p:nvSpPr>
        <p:spPr>
          <a:xfrm>
            <a:off x="2012903" y="4370308"/>
            <a:ext cx="914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05</a:t>
            </a:r>
            <a:endParaRPr/>
          </a:p>
        </p:txBody>
      </p:sp>
      <p:sp>
        <p:nvSpPr>
          <p:cNvPr id="209" name="Google Shape;209;p2"/>
          <p:cNvSpPr txBox="1"/>
          <p:nvPr>
            <p:ph idx="13" type="subTitle"/>
          </p:nvPr>
        </p:nvSpPr>
        <p:spPr>
          <a:xfrm>
            <a:off x="2962744" y="4214853"/>
            <a:ext cx="368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CONCLUSÕES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/>
          <p:nvPr/>
        </p:nvSpPr>
        <p:spPr>
          <a:xfrm>
            <a:off x="3931950" y="1003514"/>
            <a:ext cx="1280100" cy="12801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>
            <p:ph type="title"/>
          </p:nvPr>
        </p:nvSpPr>
        <p:spPr>
          <a:xfrm>
            <a:off x="1879200" y="2363086"/>
            <a:ext cx="53856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OBJETIVO DO PROJETO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"/>
          <p:cNvSpPr txBox="1"/>
          <p:nvPr>
            <p:ph idx="2" type="title"/>
          </p:nvPr>
        </p:nvSpPr>
        <p:spPr>
          <a:xfrm>
            <a:off x="4013250" y="122266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/>
          <p:nvPr/>
        </p:nvSpPr>
        <p:spPr>
          <a:xfrm>
            <a:off x="6343006" y="836061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1942753" y="836061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 txBox="1"/>
          <p:nvPr>
            <p:ph idx="4" type="subTitle"/>
          </p:nvPr>
        </p:nvSpPr>
        <p:spPr>
          <a:xfrm>
            <a:off x="5454344" y="1698339"/>
            <a:ext cx="245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OBJETIVO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>
            <p:ph idx="1" type="subTitle"/>
          </p:nvPr>
        </p:nvSpPr>
        <p:spPr>
          <a:xfrm>
            <a:off x="4970109" y="2090402"/>
            <a:ext cx="34236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Analisar os cenários epidemiológicos e geoespaciais da dengue no município de São Paulo no período de 2020 a 2024. Com base nessas informações, desenvolver um modelo preditivo capaz de estimar o número de casos da doença nos anos subsequentes.</a:t>
            </a:r>
            <a:endParaRPr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>
            <p:ph idx="2" type="subTitle"/>
          </p:nvPr>
        </p:nvSpPr>
        <p:spPr>
          <a:xfrm>
            <a:off x="595050" y="2173477"/>
            <a:ext cx="3813000" cy="25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 projeto consiste na construção de um modelo preditivo aplicado ao contexto da saúde pública, com foco em epidemias de dengue.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escolha do tema se deve ao fato de a dengue ser considerada a arbovirose mais importante do mundo, amplamente associada ao ambiente urbano. Fatores climáticos, sociais e econômicos influenciam diretamente na proliferação dos mosquitos vetores, justificando a relevância da análise e previsão de surtos.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 txBox="1"/>
          <p:nvPr>
            <p:ph idx="3" type="subTitle"/>
          </p:nvPr>
        </p:nvSpPr>
        <p:spPr>
          <a:xfrm>
            <a:off x="701380" y="1701415"/>
            <a:ext cx="3282782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CONTEXTO DO PROJETO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4"/>
          <p:cNvGrpSpPr/>
          <p:nvPr/>
        </p:nvGrpSpPr>
        <p:grpSpPr>
          <a:xfrm>
            <a:off x="6511542" y="1019572"/>
            <a:ext cx="421927" cy="419659"/>
            <a:chOff x="-6329100" y="3632100"/>
            <a:chExt cx="293025" cy="291450"/>
          </a:xfrm>
        </p:grpSpPr>
        <p:sp>
          <p:nvSpPr>
            <p:cNvPr id="228" name="Google Shape;228;p4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4"/>
          <p:cNvGrpSpPr/>
          <p:nvPr/>
        </p:nvGrpSpPr>
        <p:grpSpPr>
          <a:xfrm>
            <a:off x="2134058" y="1005173"/>
            <a:ext cx="442373" cy="420775"/>
            <a:chOff x="-6690625" y="3631325"/>
            <a:chExt cx="307225" cy="292225"/>
          </a:xfrm>
        </p:grpSpPr>
        <p:sp>
          <p:nvSpPr>
            <p:cNvPr id="232" name="Google Shape;232;p4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7" name="Google Shape;237;p4"/>
          <p:cNvCxnSpPr/>
          <p:nvPr/>
        </p:nvCxnSpPr>
        <p:spPr>
          <a:xfrm>
            <a:off x="4649965" y="198474"/>
            <a:ext cx="0" cy="4763386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"/>
          <p:cNvSpPr/>
          <p:nvPr/>
        </p:nvSpPr>
        <p:spPr>
          <a:xfrm>
            <a:off x="3931950" y="689564"/>
            <a:ext cx="1280100" cy="12801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>
            <p:ph type="title"/>
          </p:nvPr>
        </p:nvSpPr>
        <p:spPr>
          <a:xfrm>
            <a:off x="1879200" y="2049136"/>
            <a:ext cx="53856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 TRATAMENTO DOS DADOS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>
            <p:ph idx="2" type="title"/>
          </p:nvPr>
        </p:nvSpPr>
        <p:spPr>
          <a:xfrm>
            <a:off x="4013250" y="90871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ecf5ed28f_1_3"/>
          <p:cNvSpPr txBox="1"/>
          <p:nvPr>
            <p:ph idx="4" type="subTitle"/>
          </p:nvPr>
        </p:nvSpPr>
        <p:spPr>
          <a:xfrm>
            <a:off x="742414" y="2528845"/>
            <a:ext cx="349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PONTO DE ATENÇÃO DA BASE DE DADOS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9ecf5ed28f_1_3"/>
          <p:cNvSpPr txBox="1"/>
          <p:nvPr>
            <p:ph idx="1" type="subTitle"/>
          </p:nvPr>
        </p:nvSpPr>
        <p:spPr>
          <a:xfrm>
            <a:off x="243925" y="2905356"/>
            <a:ext cx="41130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 período analisado compreende os anos de 2020 a 2024.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Foi identificado um aumento expressivo nos casos de dengue em 2024.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Observou-se maior incidência de casos entre os meses de fevereiro e junho.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9ecf5ed28f_1_3"/>
          <p:cNvSpPr txBox="1"/>
          <p:nvPr>
            <p:ph idx="2" type="subTitle"/>
          </p:nvPr>
        </p:nvSpPr>
        <p:spPr>
          <a:xfrm>
            <a:off x="593213" y="1056348"/>
            <a:ext cx="38130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Para alcançar o objetivo proposto, foram utilizadas bases de dados do DATASUS e do Instituto Nacional de Meteorologia (INMET).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9ecf5ed28f_1_3"/>
          <p:cNvSpPr txBox="1"/>
          <p:nvPr>
            <p:ph idx="3" type="subTitle"/>
          </p:nvPr>
        </p:nvSpPr>
        <p:spPr>
          <a:xfrm>
            <a:off x="1306530" y="305643"/>
            <a:ext cx="328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CONJUNTO DOS DADOS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39ecf5ed28f_1_3"/>
          <p:cNvCxnSpPr/>
          <p:nvPr/>
        </p:nvCxnSpPr>
        <p:spPr>
          <a:xfrm>
            <a:off x="4479736" y="198474"/>
            <a:ext cx="0" cy="47634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9ecf5ed28f_1_3"/>
          <p:cNvSpPr txBox="1"/>
          <p:nvPr>
            <p:ph idx="1" type="subTitle"/>
          </p:nvPr>
        </p:nvSpPr>
        <p:spPr>
          <a:xfrm>
            <a:off x="5425100" y="251275"/>
            <a:ext cx="332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SELEÇÃO E TRATAMENTO DOS DADOS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9ecf5ed28f_1_3"/>
          <p:cNvSpPr txBox="1"/>
          <p:nvPr>
            <p:ph idx="2" type="subTitle"/>
          </p:nvPr>
        </p:nvSpPr>
        <p:spPr>
          <a:xfrm>
            <a:off x="4517825" y="768850"/>
            <a:ext cx="23451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Foram selecionados os seguintes dados de cada base: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Base DATASUS: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Município de São Paulo;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Data de notificação (utilizada para criação das variáveis semana e ano);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Classificação Final = 1 (casos confirmados).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Base INMET: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Estação meteorológica;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Data da medição;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Temperatura do ar (bulbo seco);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Precipitação total;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Umidade relativa do ar.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g39ecf5ed28f_1_3"/>
          <p:cNvGrpSpPr/>
          <p:nvPr/>
        </p:nvGrpSpPr>
        <p:grpSpPr>
          <a:xfrm>
            <a:off x="4812558" y="167290"/>
            <a:ext cx="533729" cy="533653"/>
            <a:chOff x="851602" y="234366"/>
            <a:chExt cx="759000" cy="759000"/>
          </a:xfrm>
        </p:grpSpPr>
        <p:sp>
          <p:nvSpPr>
            <p:cNvPr id="257" name="Google Shape;257;g39ecf5ed28f_1_3"/>
            <p:cNvSpPr/>
            <p:nvPr/>
          </p:nvSpPr>
          <p:spPr>
            <a:xfrm>
              <a:off x="851602" y="234366"/>
              <a:ext cx="759000" cy="759000"/>
            </a:xfrm>
            <a:prstGeom prst="ellipse">
              <a:avLst/>
            </a:prstGeom>
            <a:solidFill>
              <a:srgbClr val="FFFFFF">
                <a:alpha val="18040"/>
              </a:srgbClr>
            </a:solidFill>
            <a:ln>
              <a:noFill/>
            </a:ln>
          </p:spPr>
          <p:txBody>
            <a:bodyPr anchorCtr="0" anchor="ctr" bIns="64300" lIns="64300" spcFirstLastPara="1" rIns="64300" wrap="square" tIns="6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4"/>
                <a:buFont typeface="Arial"/>
                <a:buNone/>
              </a:pPr>
              <a:r>
                <a:t/>
              </a:r>
              <a:endParaRPr b="0" i="0" sz="9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Data collection - Free files and folders icons" id="258" name="Google Shape;258;g39ecf5ed28f_1_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4587" y="366985"/>
              <a:ext cx="487514" cy="487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" name="Google Shape;259;g39ecf5ed28f_1_3"/>
          <p:cNvGrpSpPr/>
          <p:nvPr/>
        </p:nvGrpSpPr>
        <p:grpSpPr>
          <a:xfrm>
            <a:off x="742427" y="167278"/>
            <a:ext cx="533700" cy="533700"/>
            <a:chOff x="816765" y="167303"/>
            <a:chExt cx="533700" cy="533700"/>
          </a:xfrm>
        </p:grpSpPr>
        <p:sp>
          <p:nvSpPr>
            <p:cNvPr id="260" name="Google Shape;260;g39ecf5ed28f_1_3"/>
            <p:cNvSpPr/>
            <p:nvPr/>
          </p:nvSpPr>
          <p:spPr>
            <a:xfrm>
              <a:off x="816765" y="167303"/>
              <a:ext cx="533700" cy="533700"/>
            </a:xfrm>
            <a:prstGeom prst="ellipse">
              <a:avLst/>
            </a:prstGeom>
            <a:solidFill>
              <a:srgbClr val="FFFFFF">
                <a:alpha val="18040"/>
              </a:srgbClr>
            </a:solidFill>
            <a:ln>
              <a:noFill/>
            </a:ln>
          </p:spPr>
          <p:txBody>
            <a:bodyPr anchorCtr="0" anchor="ctr" bIns="64300" lIns="64300" spcFirstLastPara="1" rIns="64300" wrap="square" tIns="64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4"/>
                <a:buFont typeface="Arial"/>
                <a:buNone/>
              </a:pPr>
              <a:r>
                <a:t/>
              </a:r>
              <a:endParaRPr b="0" i="0" sz="9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" name="Google Shape;261;g39ecf5ed28f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07100" y="235225"/>
              <a:ext cx="397875" cy="397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2" name="Google Shape;262;g39ecf5ed28f_1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8500" y="2043450"/>
            <a:ext cx="365667" cy="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9ecf5ed28f_1_3"/>
          <p:cNvSpPr/>
          <p:nvPr/>
        </p:nvSpPr>
        <p:spPr>
          <a:xfrm>
            <a:off x="2124477" y="1945943"/>
            <a:ext cx="533700" cy="5337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64300" lIns="64300" spcFirstLastPara="1" rIns="64300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4"/>
              <a:buFont typeface="Arial"/>
              <a:buNone/>
            </a:pPr>
            <a:r>
              <a:t/>
            </a:r>
            <a:endParaRPr b="0" i="0" sz="9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9ecf5ed28f_1_3"/>
          <p:cNvSpPr txBox="1"/>
          <p:nvPr>
            <p:ph idx="2" type="subTitle"/>
          </p:nvPr>
        </p:nvSpPr>
        <p:spPr>
          <a:xfrm>
            <a:off x="6685075" y="768850"/>
            <a:ext cx="22605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Tratamento dos dados: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Unificação das bases pelo período analisado;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Remoção de colunas não utilizadas;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Tratamento de valores nulos;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Padronização dos campos de data para permitir o cruzamento semanal;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Criação de colunas referentes à semana epidemiológica;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Tratamentos específicos para as variáveis de temperatura, precipitação e umidade (base INMET).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/>
          <p:nvPr>
            <p:ph idx="4" type="subTitle"/>
          </p:nvPr>
        </p:nvSpPr>
        <p:spPr>
          <a:xfrm>
            <a:off x="523300" y="779462"/>
            <a:ext cx="38802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Após a etapa de seleção e tratamento, realizamos o cruzamento das bases por data, semana e ano.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Com base na análise exploratória, foram construídas as seguintes variáveis para alimentar o modelo preditivo: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Features temporais (lags):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utilização de médias defasadas de até 4 semanas após as notificações para representar o tempo entre exposição e confirmação dos casos.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Média móvel: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cálculo da média móvel do número de casos considerando as últimas 3 semanas, visando suavizar variações bruscas.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Features de sazonalidade: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criação de variáveis relacionadas às semanas do ano, considerando a ocorrência de picos sazonais da doença.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Features climáticas: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inclusão das variáveis de temperatura, precipitação e umidade, relacionadas às condições favoráveis à reprodução do mosquito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Aedes aegypti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778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•"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 txBox="1"/>
          <p:nvPr>
            <p:ph idx="5" type="subTitle"/>
          </p:nvPr>
        </p:nvSpPr>
        <p:spPr>
          <a:xfrm>
            <a:off x="4754748" y="712159"/>
            <a:ext cx="41193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 criação das variáveis evidenciou uma correlação significativa entre a precipitação e o aumento no número de casos de dengue.</a:t>
            </a:r>
            <a:br>
              <a:rPr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 As análises de defasagem (lag) indicam que o impacto da chuva sobre os casos ocorre, em média, entre 6 e 8 semanas, o que é coerente com o ciclo de vida do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Aedes aegypti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Proliferação após a chuva: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1 a 3 semanas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Aumento populacional do mosquito: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3 a 5 semanas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Transmissão e incubação viral: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1 a 2 semanas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Notificação dos casos: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aproximadamente 1 semana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>
            <p:ph idx="8" type="subTitle"/>
          </p:nvPr>
        </p:nvSpPr>
        <p:spPr>
          <a:xfrm>
            <a:off x="2297525" y="259625"/>
            <a:ext cx="68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INTEGRAÇÃO E CONSTRUÇÃO DOS DADOS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9"/>
          <p:cNvGrpSpPr/>
          <p:nvPr/>
        </p:nvGrpSpPr>
        <p:grpSpPr>
          <a:xfrm>
            <a:off x="1580490" y="27938"/>
            <a:ext cx="759000" cy="759000"/>
            <a:chOff x="851602" y="1830294"/>
            <a:chExt cx="759000" cy="759000"/>
          </a:xfrm>
        </p:grpSpPr>
        <p:sp>
          <p:nvSpPr>
            <p:cNvPr id="273" name="Google Shape;273;p9"/>
            <p:cNvSpPr/>
            <p:nvPr/>
          </p:nvSpPr>
          <p:spPr>
            <a:xfrm>
              <a:off x="851602" y="1830294"/>
              <a:ext cx="759000" cy="759000"/>
            </a:xfrm>
            <a:prstGeom prst="ellipse">
              <a:avLst/>
            </a:prstGeom>
            <a:solidFill>
              <a:srgbClr val="FFFFFF">
                <a:alpha val="1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ig data - Free construction and tools icons" id="274" name="Google Shape;27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8786" y="1964879"/>
              <a:ext cx="484632" cy="4846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75" name="Google Shape;275;p9"/>
          <p:cNvCxnSpPr/>
          <p:nvPr/>
        </p:nvCxnSpPr>
        <p:spPr>
          <a:xfrm>
            <a:off x="4635125" y="814883"/>
            <a:ext cx="1800" cy="40272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6" name="Google Shape;27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826" y="2664375"/>
            <a:ext cx="2783398" cy="21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3931950" y="687014"/>
            <a:ext cx="1280100" cy="12801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 txBox="1"/>
          <p:nvPr>
            <p:ph type="title"/>
          </p:nvPr>
        </p:nvSpPr>
        <p:spPr>
          <a:xfrm>
            <a:off x="1879200" y="2046571"/>
            <a:ext cx="5385600" cy="24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MODELAGEM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 txBox="1"/>
          <p:nvPr>
            <p:ph idx="2" type="title"/>
          </p:nvPr>
        </p:nvSpPr>
        <p:spPr>
          <a:xfrm>
            <a:off x="4013250" y="90616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8d9cbc3fc_0_54"/>
          <p:cNvSpPr txBox="1"/>
          <p:nvPr>
            <p:ph idx="2" type="subTitle"/>
          </p:nvPr>
        </p:nvSpPr>
        <p:spPr>
          <a:xfrm>
            <a:off x="937500" y="654999"/>
            <a:ext cx="351090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Linguagem/Ambiente: Python/Colab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Adotou-se um modelo híbrido, combinando dois tipos de algoritmos, cada um direcionado a um cenário específico: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Cenários de casos regulares (≤ 15.000 casos/semana):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Modelo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MLP (Multilayer Perceptron)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Cenários de surtos (≥ 15.000 casos/semana):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Modelo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AdaBoost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 sistema foi estruturado em três fases operacionais: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Fase 1 – Observação (primeiras 4 semanas):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 Monitoramento inicial dos casos e comparação com limiares de alerta, sem realização de previsões.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Fase 2 – Confirmação (próximas 6 semanas):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 Acompanhamento da confirmação dos casos notificados, ainda sem ativar a previsão automática.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Fase 3 – Machine Learning (a partir da semana 11):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 Ativação do modelo preditivo, com execução das previsões e retreinamento semanal.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Essa estrutura em três fases permite reduzir a ocorrência de falsos positivos, garantindo que o modelo opere apenas quando há dados suficientes para aprender adequadamente.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a8d9cbc3fc_0_54"/>
          <p:cNvSpPr txBox="1"/>
          <p:nvPr>
            <p:ph idx="1" type="subTitle"/>
          </p:nvPr>
        </p:nvSpPr>
        <p:spPr>
          <a:xfrm>
            <a:off x="1666911" y="110775"/>
            <a:ext cx="68784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ESCOLHA DA MODELAGEM/FUNCIONAMENTO DO MODELO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g3a8d9cbc3fc_0_54"/>
          <p:cNvGrpSpPr/>
          <p:nvPr/>
        </p:nvGrpSpPr>
        <p:grpSpPr>
          <a:xfrm>
            <a:off x="743426" y="110777"/>
            <a:ext cx="759000" cy="759000"/>
            <a:chOff x="1397351" y="1195775"/>
            <a:chExt cx="759000" cy="759000"/>
          </a:xfrm>
        </p:grpSpPr>
        <p:sp>
          <p:nvSpPr>
            <p:cNvPr id="291" name="Google Shape;291;g3a8d9cbc3fc_0_54"/>
            <p:cNvSpPr/>
            <p:nvPr/>
          </p:nvSpPr>
          <p:spPr>
            <a:xfrm>
              <a:off x="1397351" y="1195775"/>
              <a:ext cx="759000" cy="759000"/>
            </a:xfrm>
            <a:prstGeom prst="ellipse">
              <a:avLst/>
            </a:prstGeom>
            <a:solidFill>
              <a:srgbClr val="FFFFFF">
                <a:alpha val="18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3d modeling - Free computer icons" id="292" name="Google Shape;292;g3a8d9cbc3fc_0_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9671" y="1337966"/>
              <a:ext cx="484632" cy="4846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3" name="Google Shape;293;g3a8d9cbc3fc_0_54"/>
          <p:cNvCxnSpPr/>
          <p:nvPr/>
        </p:nvCxnSpPr>
        <p:spPr>
          <a:xfrm flipH="1">
            <a:off x="4655157" y="874750"/>
            <a:ext cx="7800" cy="37536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a8d9cbc3fc_0_54"/>
          <p:cNvSpPr txBox="1"/>
          <p:nvPr/>
        </p:nvSpPr>
        <p:spPr>
          <a:xfrm>
            <a:off x="4869700" y="595723"/>
            <a:ext cx="363780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Filtro de datas: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Após análises exploratórias, identificou-se que o melhor desempenho do modelo ocorre quando se utilizam apenas os anos de 2023 e 2024, período em que houve um aumento expressivo no número de casos. Dessa forma, esses dois anos foram selecionados para compor o conjunto final de treinamento.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Limiar: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 Foram definidos dois limiares para segmentação e comparação dos cenários epidemiológicos.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Limiar Amarelo: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Calculado pelo percentil 95 (P95), indicando que 95% dos valores estão abaixo desse ponto. O cálculo considera a média do baseline acrescida de </a:t>
            </a:r>
            <a:r>
              <a:rPr b="1" lang="en-US" sz="1000">
                <a:solidFill>
                  <a:schemeClr val="dk1"/>
                </a:solidFill>
              </a:rPr>
              <a:t>2 desvios padrão (σ)</a:t>
            </a:r>
            <a:r>
              <a:rPr lang="en-US" sz="1000">
                <a:solidFill>
                  <a:schemeClr val="dk1"/>
                </a:solidFill>
              </a:rPr>
              <a:t>.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Fórmula:</a:t>
            </a:r>
            <a:r>
              <a:rPr lang="en-US" sz="1000">
                <a:solidFill>
                  <a:schemeClr val="dk1"/>
                </a:solidFill>
              </a:rPr>
              <a:t> média do baseline + 2σ.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Limiar Vermelho:</a:t>
            </a:r>
            <a:br>
              <a:rPr b="1" lang="en-US" sz="1000">
                <a:solidFill>
                  <a:schemeClr val="dk1"/>
                </a:solidFill>
              </a:rPr>
            </a:br>
            <a:r>
              <a:rPr lang="en-US" sz="1000">
                <a:solidFill>
                  <a:schemeClr val="dk1"/>
                </a:solidFill>
              </a:rPr>
              <a:t>Calculado pelo percentil 99 (P99), indicando que 99% dos valores estão abaixo desse ponto. O cálculo considera a média do baseline acrescida de </a:t>
            </a:r>
            <a:r>
              <a:rPr b="1" lang="en-US" sz="1000">
                <a:solidFill>
                  <a:schemeClr val="dk1"/>
                </a:solidFill>
              </a:rPr>
              <a:t>3 desvios padrão (σ)</a:t>
            </a:r>
            <a:r>
              <a:rPr lang="en-US" sz="1000">
                <a:solidFill>
                  <a:schemeClr val="dk1"/>
                </a:solidFill>
              </a:rPr>
              <a:t>.</a:t>
            </a:r>
            <a:br>
              <a:rPr lang="en-US" sz="1000">
                <a:solidFill>
                  <a:schemeClr val="dk1"/>
                </a:solidFill>
              </a:rPr>
            </a:br>
            <a:r>
              <a:rPr b="1" lang="en-US" sz="1000">
                <a:solidFill>
                  <a:schemeClr val="dk1"/>
                </a:solidFill>
              </a:rPr>
              <a:t>Fórmula:</a:t>
            </a:r>
            <a:r>
              <a:rPr lang="en-US" sz="1000">
                <a:solidFill>
                  <a:schemeClr val="dk1"/>
                </a:solidFill>
              </a:rPr>
              <a:t> média do baseline + 3σ.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e062eb8e6_0_0"/>
          <p:cNvSpPr txBox="1"/>
          <p:nvPr>
            <p:ph idx="4" type="subTitle"/>
          </p:nvPr>
        </p:nvSpPr>
        <p:spPr>
          <a:xfrm>
            <a:off x="506788" y="2930583"/>
            <a:ext cx="35847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 modelo selecionado para cenários de casos normais utiliza a técnica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MLP (Multilayer Perceptron)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escolhida por apresentar melhor desempenho em termos de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R²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e por considerar de forma adequada as principais features do conjunto de dados.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 previsão é realizada para a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próxima semana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utilizando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validação interna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o que evita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vazamento de dados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garantindo maior confiabilidade das previsões.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9e062eb8e6_0_0"/>
          <p:cNvSpPr txBox="1"/>
          <p:nvPr>
            <p:ph idx="6" type="subTitle"/>
          </p:nvPr>
        </p:nvSpPr>
        <p:spPr>
          <a:xfrm>
            <a:off x="1265802" y="201925"/>
            <a:ext cx="727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DETALHAMENTO DOS TIPOS DE MODELO/CONSTRUÇÃO DO MODELO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g39e062eb8e6_0_0"/>
          <p:cNvGrpSpPr/>
          <p:nvPr/>
        </p:nvGrpSpPr>
        <p:grpSpPr>
          <a:xfrm>
            <a:off x="506802" y="65217"/>
            <a:ext cx="759000" cy="759000"/>
            <a:chOff x="851602" y="2978603"/>
            <a:chExt cx="759000" cy="759000"/>
          </a:xfrm>
        </p:grpSpPr>
        <p:sp>
          <p:nvSpPr>
            <p:cNvPr id="302" name="Google Shape;302;g39e062eb8e6_0_0"/>
            <p:cNvSpPr/>
            <p:nvPr/>
          </p:nvSpPr>
          <p:spPr>
            <a:xfrm>
              <a:off x="851602" y="2978603"/>
              <a:ext cx="759000" cy="759000"/>
            </a:xfrm>
            <a:prstGeom prst="ellipse">
              <a:avLst/>
            </a:prstGeom>
            <a:solidFill>
              <a:srgbClr val="FFFFFF">
                <a:alpha val="1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onstruction - Free industry icons" id="303" name="Google Shape;303;g39e062eb8e6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2935" y="3121023"/>
              <a:ext cx="484632" cy="4846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g39e062eb8e6_0_0"/>
          <p:cNvSpPr txBox="1"/>
          <p:nvPr>
            <p:ph idx="4" type="subTitle"/>
          </p:nvPr>
        </p:nvSpPr>
        <p:spPr>
          <a:xfrm>
            <a:off x="4955288" y="2947925"/>
            <a:ext cx="3879900" cy="1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Para cenários de surtos, foi selecionado o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AdaBoost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árvores de decisão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 O modelo treina a primeira árvore, identifica os erros e, em seguida, treina a próxima árvore dando maior peso aos erros anteriores. Esse processo é repetido 100 vezes, e as previsões de todas as árvores são combinadas para gerar o resultado final.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Todas as features (lags, sazonalidade e variáveis climáticas) são utilizadas, conferindo robustez ao modelo em situações extremas, permitindo capturar relações não lineares e reduzindo a sensibilidade a outliers.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9e062eb8e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01" y="1267175"/>
            <a:ext cx="3584674" cy="15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9e062eb8e6_0_0"/>
          <p:cNvSpPr txBox="1"/>
          <p:nvPr>
            <p:ph idx="3" type="subTitle"/>
          </p:nvPr>
        </p:nvSpPr>
        <p:spPr>
          <a:xfrm>
            <a:off x="1340350" y="698925"/>
            <a:ext cx="1852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Modelo casos normais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9e062eb8e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5212" y="1267175"/>
            <a:ext cx="3880050" cy="15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9e062eb8e6_0_0"/>
          <p:cNvSpPr txBox="1"/>
          <p:nvPr>
            <p:ph idx="3" type="subTitle"/>
          </p:nvPr>
        </p:nvSpPr>
        <p:spPr>
          <a:xfrm>
            <a:off x="6052624" y="698925"/>
            <a:ext cx="1699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Modelo para surtos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g39e062eb8e6_0_0"/>
          <p:cNvCxnSpPr/>
          <p:nvPr/>
        </p:nvCxnSpPr>
        <p:spPr>
          <a:xfrm flipH="1">
            <a:off x="4568088" y="896975"/>
            <a:ext cx="7800" cy="37536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e062eb8e6_0_23"/>
          <p:cNvSpPr txBox="1"/>
          <p:nvPr>
            <p:ph idx="3" type="subTitle"/>
          </p:nvPr>
        </p:nvSpPr>
        <p:spPr>
          <a:xfrm>
            <a:off x="828475" y="796800"/>
            <a:ext cx="3637500" cy="4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Período de teste: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Ano de 2023 → aprendizado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Ano de 2024 → testes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Critério de escolha do algoritmo: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≤ 15.000 casos → Rede Neural (MLP)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≥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15.000 casos → AdaBoost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Exemplo de ativação semanal: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Semana 1: 5.000 casos → ativa MLP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Semana 2: 20.000 casos → ativa AdaBoost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Semana 3: 8.000 casos → volta para MLP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Passos do treinamento semanal: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Dados de treino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Decisão sobre o algoritmo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Treinamento do modelo selecionado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Previsão da semana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Registro dos resultados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9e062eb8e6_0_23"/>
          <p:cNvSpPr txBox="1"/>
          <p:nvPr>
            <p:ph idx="7" type="subTitle"/>
          </p:nvPr>
        </p:nvSpPr>
        <p:spPr>
          <a:xfrm>
            <a:off x="1289375" y="284100"/>
            <a:ext cx="331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GERAÇÃO DE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ESIGN DE TESTE/PROCESSO SEMANAL DE PREVISÃO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39e062eb8e6_0_23"/>
          <p:cNvGrpSpPr/>
          <p:nvPr/>
        </p:nvGrpSpPr>
        <p:grpSpPr>
          <a:xfrm>
            <a:off x="478048" y="201869"/>
            <a:ext cx="759000" cy="759000"/>
            <a:chOff x="4682013" y="1382675"/>
            <a:chExt cx="759000" cy="759000"/>
          </a:xfrm>
        </p:grpSpPr>
        <p:sp>
          <p:nvSpPr>
            <p:cNvPr id="317" name="Google Shape;317;g39e062eb8e6_0_23"/>
            <p:cNvSpPr/>
            <p:nvPr/>
          </p:nvSpPr>
          <p:spPr>
            <a:xfrm>
              <a:off x="4682013" y="1382675"/>
              <a:ext cx="759000" cy="759000"/>
            </a:xfrm>
            <a:prstGeom prst="ellipse">
              <a:avLst/>
            </a:prstGeom>
            <a:solidFill>
              <a:srgbClr val="FFFFFF">
                <a:alpha val="18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est - Free education icons" id="318" name="Google Shape;318;g39e062eb8e6_0_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25935" y="1506059"/>
              <a:ext cx="484632" cy="48463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19" name="Google Shape;319;g39e062eb8e6_0_23"/>
          <p:cNvCxnSpPr/>
          <p:nvPr/>
        </p:nvCxnSpPr>
        <p:spPr>
          <a:xfrm flipH="1">
            <a:off x="4655100" y="209328"/>
            <a:ext cx="17400" cy="44415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9e062eb8e6_0_23"/>
          <p:cNvSpPr txBox="1"/>
          <p:nvPr>
            <p:ph idx="7" type="subTitle"/>
          </p:nvPr>
        </p:nvSpPr>
        <p:spPr>
          <a:xfrm>
            <a:off x="5763496" y="341225"/>
            <a:ext cx="26286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MÉTRICAS DE AVALIAÇÃO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g39e062eb8e6_0_23" title="371219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9466" y="144575"/>
            <a:ext cx="652225" cy="6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9e062eb8e6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0025" y="2781075"/>
            <a:ext cx="3565775" cy="122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9e062eb8e6_0_23"/>
          <p:cNvSpPr txBox="1"/>
          <p:nvPr>
            <p:ph idx="3" type="subTitle"/>
          </p:nvPr>
        </p:nvSpPr>
        <p:spPr>
          <a:xfrm>
            <a:off x="5318600" y="782275"/>
            <a:ext cx="3396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Para os testes do modelo, foram consideradas as seguintes métricas de avaliação: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1. R² (Coeficiente de Determinação)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2. MAE (Erro Absoluto Médio)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3. RMSE (Raiz do Erro Quadrático Médio)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Onde obtivemos os seguintes resultados: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8d9cbc3fc_0_0"/>
          <p:cNvSpPr/>
          <p:nvPr/>
        </p:nvSpPr>
        <p:spPr>
          <a:xfrm>
            <a:off x="3931950" y="1471064"/>
            <a:ext cx="1280100" cy="12801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a8d9cbc3fc_0_0"/>
          <p:cNvSpPr txBox="1"/>
          <p:nvPr>
            <p:ph type="title"/>
          </p:nvPr>
        </p:nvSpPr>
        <p:spPr>
          <a:xfrm>
            <a:off x="1879200" y="2830631"/>
            <a:ext cx="5385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RESULTADOS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a8d9cbc3fc_0_0"/>
          <p:cNvSpPr txBox="1"/>
          <p:nvPr>
            <p:ph idx="2" type="title"/>
          </p:nvPr>
        </p:nvSpPr>
        <p:spPr>
          <a:xfrm>
            <a:off x="4013250" y="169021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e062eb8e6_0_63"/>
          <p:cNvSpPr txBox="1"/>
          <p:nvPr>
            <p:ph idx="7" type="subTitle"/>
          </p:nvPr>
        </p:nvSpPr>
        <p:spPr>
          <a:xfrm>
            <a:off x="1356650" y="411175"/>
            <a:ext cx="3315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MÉTRICAS DE RESULTADO DO MODELO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9e062eb8e6_0_63"/>
          <p:cNvSpPr/>
          <p:nvPr/>
        </p:nvSpPr>
        <p:spPr>
          <a:xfrm>
            <a:off x="597650" y="164475"/>
            <a:ext cx="690900" cy="6909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83225" lIns="83225" spcFirstLastPara="1" rIns="83225" wrap="square" tIns="83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4"/>
              <a:buFont typeface="Arial"/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9e062eb8e6_0_63"/>
          <p:cNvSpPr txBox="1"/>
          <p:nvPr>
            <p:ph idx="3" type="subTitle"/>
          </p:nvPr>
        </p:nvSpPr>
        <p:spPr>
          <a:xfrm>
            <a:off x="597650" y="978425"/>
            <a:ext cx="31323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Como validação de confiabilidade do modelo, utilizamos as seguintes métricas: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1. Análise de Overfitting Temporal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2. Validação Cruzada Temporal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latin typeface="Arial"/>
                <a:ea typeface="Arial"/>
                <a:cs typeface="Arial"/>
                <a:sym typeface="Arial"/>
              </a:rPr>
              <a:t>3. Análise de Resíduos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 com base nessas métricas, obtemos o resultado abaixo: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9e062eb8e6_0_63" title="371219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055" y="187714"/>
            <a:ext cx="593720" cy="593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9e062eb8e6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03" y="2961677"/>
            <a:ext cx="3031800" cy="103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9e062eb8e6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4860" y="978425"/>
            <a:ext cx="4739477" cy="209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9e062eb8e6_0_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4853" y="3164138"/>
            <a:ext cx="4739477" cy="15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e062eb8e6_0_80"/>
          <p:cNvSpPr txBox="1"/>
          <p:nvPr>
            <p:ph idx="7" type="subTitle"/>
          </p:nvPr>
        </p:nvSpPr>
        <p:spPr>
          <a:xfrm>
            <a:off x="621675" y="465100"/>
            <a:ext cx="6570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RESULTADOS OBTIDOS - VISUAIS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9e062eb8e6_0_80"/>
          <p:cNvSpPr/>
          <p:nvPr/>
        </p:nvSpPr>
        <p:spPr>
          <a:xfrm>
            <a:off x="1270505" y="215058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g39e062eb8e6_0_80" title="371219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6" y="144912"/>
            <a:ext cx="652225" cy="6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9e062eb8e6_0_80"/>
          <p:cNvPicPr preferRelativeResize="0"/>
          <p:nvPr/>
        </p:nvPicPr>
        <p:blipFill rotWithShape="1">
          <a:blip r:embed="rId4">
            <a:alphaModFix/>
          </a:blip>
          <a:srcRect b="0" l="12328" r="11895" t="5338"/>
          <a:stretch/>
        </p:blipFill>
        <p:spPr>
          <a:xfrm>
            <a:off x="154050" y="1373175"/>
            <a:ext cx="3494424" cy="269720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9e062eb8e6_0_80"/>
          <p:cNvSpPr txBox="1"/>
          <p:nvPr>
            <p:ph idx="3" type="subTitle"/>
          </p:nvPr>
        </p:nvSpPr>
        <p:spPr>
          <a:xfrm>
            <a:off x="1113025" y="899175"/>
            <a:ext cx="1917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Matriz de Correlação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g39e062eb8e6_0_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9525" y="1373175"/>
            <a:ext cx="5127151" cy="30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9e062eb8e6_0_80"/>
          <p:cNvSpPr txBox="1"/>
          <p:nvPr>
            <p:ph idx="3" type="subTitle"/>
          </p:nvPr>
        </p:nvSpPr>
        <p:spPr>
          <a:xfrm>
            <a:off x="5027875" y="899175"/>
            <a:ext cx="24897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Previsões x Valores Reais 2024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ecf5ed28f_0_12"/>
          <p:cNvSpPr txBox="1"/>
          <p:nvPr>
            <p:ph idx="7" type="subTitle"/>
          </p:nvPr>
        </p:nvSpPr>
        <p:spPr>
          <a:xfrm>
            <a:off x="670775" y="215050"/>
            <a:ext cx="6570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RESULTADOS OBTIDOS - VISUAIS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9ecf5ed28f_0_12"/>
          <p:cNvSpPr/>
          <p:nvPr/>
        </p:nvSpPr>
        <p:spPr>
          <a:xfrm>
            <a:off x="1270505" y="215058"/>
            <a:ext cx="759000" cy="759000"/>
          </a:xfrm>
          <a:prstGeom prst="ellipse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9ecf5ed28f_0_12" title="371219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86" y="18399"/>
            <a:ext cx="652225" cy="65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9ecf5ed28f_0_12"/>
          <p:cNvSpPr txBox="1"/>
          <p:nvPr>
            <p:ph idx="3" type="subTitle"/>
          </p:nvPr>
        </p:nvSpPr>
        <p:spPr>
          <a:xfrm>
            <a:off x="3103663" y="670625"/>
            <a:ext cx="32202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Performance por Modelo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g39ecf5ed28f_0_12"/>
          <p:cNvPicPr preferRelativeResize="0"/>
          <p:nvPr/>
        </p:nvPicPr>
        <p:blipFill rotWithShape="1">
          <a:blip r:embed="rId4">
            <a:alphaModFix/>
          </a:blip>
          <a:srcRect b="0" l="0" r="0" t="3408"/>
          <a:stretch/>
        </p:blipFill>
        <p:spPr>
          <a:xfrm>
            <a:off x="2029500" y="1018650"/>
            <a:ext cx="5368525" cy="372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daf08bf71_0_50"/>
          <p:cNvSpPr/>
          <p:nvPr/>
        </p:nvSpPr>
        <p:spPr>
          <a:xfrm>
            <a:off x="3931950" y="1394864"/>
            <a:ext cx="1280100" cy="12801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adaf08bf71_0_50"/>
          <p:cNvSpPr txBox="1"/>
          <p:nvPr>
            <p:ph type="title"/>
          </p:nvPr>
        </p:nvSpPr>
        <p:spPr>
          <a:xfrm>
            <a:off x="1879200" y="2754430"/>
            <a:ext cx="5385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CONCLUSÕES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adaf08bf71_0_50"/>
          <p:cNvSpPr txBox="1"/>
          <p:nvPr>
            <p:ph idx="2" type="title"/>
          </p:nvPr>
        </p:nvSpPr>
        <p:spPr>
          <a:xfrm>
            <a:off x="4013250" y="1614014"/>
            <a:ext cx="11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daf08bf71_0_57"/>
          <p:cNvSpPr txBox="1"/>
          <p:nvPr>
            <p:ph idx="7" type="subTitle"/>
          </p:nvPr>
        </p:nvSpPr>
        <p:spPr>
          <a:xfrm>
            <a:off x="1356650" y="411175"/>
            <a:ext cx="3315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CONCLUSÕES DO MODELO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adaf08bf71_0_57"/>
          <p:cNvSpPr/>
          <p:nvPr/>
        </p:nvSpPr>
        <p:spPr>
          <a:xfrm>
            <a:off x="597650" y="164475"/>
            <a:ext cx="690900" cy="690900"/>
          </a:xfrm>
          <a:prstGeom prst="ellipse">
            <a:avLst/>
          </a:prstGeom>
          <a:solidFill>
            <a:srgbClr val="FFFFFF">
              <a:alpha val="18040"/>
            </a:srgbClr>
          </a:solidFill>
          <a:ln>
            <a:noFill/>
          </a:ln>
        </p:spPr>
        <p:txBody>
          <a:bodyPr anchorCtr="0" anchor="ctr" bIns="83225" lIns="83225" spcFirstLastPara="1" rIns="83225" wrap="square" tIns="83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4"/>
              <a:buFont typeface="Arial"/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3adaf08bf71_0_57" title="371219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055" y="187714"/>
            <a:ext cx="593720" cy="593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adaf08bf71_0_57"/>
          <p:cNvSpPr txBox="1"/>
          <p:nvPr>
            <p:ph idx="3" type="subTitle"/>
          </p:nvPr>
        </p:nvSpPr>
        <p:spPr>
          <a:xfrm>
            <a:off x="779475" y="968350"/>
            <a:ext cx="3511800" cy="40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Considerações finais: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 u="sng">
                <a:latin typeface="Arial"/>
                <a:ea typeface="Arial"/>
                <a:cs typeface="Arial"/>
                <a:sym typeface="Arial"/>
              </a:rPr>
              <a:t>O modelo funciona!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Apesar de o modelo apresentar um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bom R²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indicando que consegue explicar bem a variabilidade dos dados, ele ainda possui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limitações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evidenciadas pelo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alto RMSE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 Isso significa que, embora o modelo capture a tendência geral,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os erros de previsão em semanas com valores extremos podem ser elevados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 aumento expressivo de casos no período de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abril a maio de 2024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, por exemplo, mostra que surtos repentinos e picos acentuados ainda são difíceis de prever com precisão, mesmo utilizando o AdaBoost para cenários de surtos. Essa limitação é típica em modelos preditivos de séries temporais de epidemias, principalmente quando eventos extremos fogem do padrão histórico e dependem de fatores adicionais não incluídos no modelo, como variações climáticas localizadas ou intervenções de controle vetorial.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t/>
            </a:r>
            <a:endParaRPr b="1" sz="900"/>
          </a:p>
        </p:txBody>
      </p:sp>
      <p:sp>
        <p:nvSpPr>
          <p:cNvPr id="377" name="Google Shape;377;g3adaf08bf71_0_57"/>
          <p:cNvSpPr txBox="1"/>
          <p:nvPr>
            <p:ph idx="3" type="subTitle"/>
          </p:nvPr>
        </p:nvSpPr>
        <p:spPr>
          <a:xfrm>
            <a:off x="4867250" y="922725"/>
            <a:ext cx="3511800" cy="40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Benefícios da utilização do modelo: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Antecipação de surtos de dengue: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contribui para reduzir impactos sociais e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econômicos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ao permitir respostas mais rápidas;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ções preventivas mais eficazes;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possibilita campanhas direcionadas e melhor alocação de recursos de saúde;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Suporte a decisões estratégicas: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fornece informações objetivas e confiáveis para gestores públicos e autoridades sanitárias;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Identificação de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fatores de risco: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fortalece a vigilância epidemiológica e orienta políticas de controle vetorial mais precisas;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Escalabilidade nacional: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pode ser adaptado para diferentes regiões do Brasil, considerando suas particularidade climáticas e demográficas.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</a:pPr>
            <a:r>
              <a:t/>
            </a:r>
            <a:endParaRPr b="1" sz="900"/>
          </a:p>
        </p:txBody>
      </p:sp>
      <p:cxnSp>
        <p:nvCxnSpPr>
          <p:cNvPr id="378" name="Google Shape;378;g3adaf08bf71_0_57"/>
          <p:cNvCxnSpPr/>
          <p:nvPr/>
        </p:nvCxnSpPr>
        <p:spPr>
          <a:xfrm flipH="1">
            <a:off x="4488550" y="485928"/>
            <a:ext cx="17400" cy="4441500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c9aa3ea94_1_4"/>
          <p:cNvSpPr txBox="1"/>
          <p:nvPr>
            <p:ph idx="4294967295" type="subTitle"/>
          </p:nvPr>
        </p:nvSpPr>
        <p:spPr>
          <a:xfrm>
            <a:off x="595050" y="829841"/>
            <a:ext cx="82416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INMET, 2025. Instituto Nacional de Meteorologia. Balanço de junho de 2025 em São Paulo - SP. Disponível em: </a:t>
            </a:r>
            <a:r>
              <a:rPr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https://portal.inmet.gov.br/noticias/balan%C3%A7o-de-junho-de-2025-em-s%C3%A3o-paulo-sp</a:t>
            </a:r>
            <a:r>
              <a:rPr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Acessado em 14 out. 2025.</a:t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Casos de dengue por semana/mês – Base: DATASUS.</a:t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https://opendatasus.saude.gov.br/dataset/arboviroses-dengue</a:t>
            </a:r>
            <a:r>
              <a:rPr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FIOCRUZ, 2025. Fundação Oswaldo Cruz. AEDES aegypti. https://www.ioc.fiocruz.br/sites/default/files/aedes_saude_360.jpg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8c9aa3ea94_1_4"/>
          <p:cNvSpPr txBox="1"/>
          <p:nvPr>
            <p:ph idx="4294967295" type="subTitle"/>
          </p:nvPr>
        </p:nvSpPr>
        <p:spPr>
          <a:xfrm>
            <a:off x="-24" y="27830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</a:rPr>
              <a:t>REFERÊNCIAS/</a:t>
            </a:r>
            <a:r>
              <a:rPr b="1" lang="en-US" sz="1400"/>
              <a:t>BIBLIOGRAFIA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daf08bf71_0_33"/>
          <p:cNvSpPr txBox="1"/>
          <p:nvPr>
            <p:ph type="title"/>
          </p:nvPr>
        </p:nvSpPr>
        <p:spPr>
          <a:xfrm>
            <a:off x="1879200" y="2071955"/>
            <a:ext cx="53856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Obrigado!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ngue Disease by Slidesgo">
  <a:themeElements>
    <a:clrScheme name="Simple Light">
      <a:dk1>
        <a:srgbClr val="FFFFFF"/>
      </a:dk1>
      <a:lt1>
        <a:srgbClr val="EB7463"/>
      </a:lt1>
      <a:dk2>
        <a:srgbClr val="292B70"/>
      </a:dk2>
      <a:lt2>
        <a:srgbClr val="0D0E3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